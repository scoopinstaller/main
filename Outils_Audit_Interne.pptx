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9905695" cy="5572353"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Exposé sous le thème :</a:t>
            </a:r>
          </a:p>
          <a:p>
            <a:r>
              <a:t>LES OUTILS ET TECHNIQUES</a:t>
            </a:r>
          </a:p>
          <a:p>
            <a:r>
              <a:t>DE L'AUDIT INTERNE</a:t>
            </a:r>
          </a:p>
        </p:txBody>
      </p:sp>
      <p:sp>
        <p:nvSpPr>
          <p:cNvPr id="3" name="Subtitle 2"/>
          <p:cNvSpPr>
            <a:spLocks noGrp="1"/>
          </p:cNvSpPr>
          <p:nvPr>
            <p:ph type="subTitle" idx="1"/>
          </p:nvPr>
        </p:nvSpPr>
        <p:spPr/>
        <p:txBody>
          <a:bodyPr/>
          <a:lstStyle/>
          <a:p>
            <a:r>
              <a:t>Réalisé par :</a:t>
            </a:r>
          </a:p>
          <a:p>
            <a:r>
              <a:t>[Votre Nom]</a:t>
            </a:r>
          </a:p>
          <a:p/>
          <a:p>
            <a:r>
              <a:t>Encadré par :</a:t>
            </a:r>
          </a:p>
          <a:p>
            <a:r>
              <a:t>[Nom de l'Encadrant]</a:t>
            </a:r>
          </a:p>
          <a:p/>
          <a:p>
            <a:r>
              <a:t>Année universitaire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a:t>
            </a:r>
          </a:p>
        </p:txBody>
      </p:sp>
      <p:sp>
        <p:nvSpPr>
          <p:cNvPr id="3" name="Content Placeholder 2"/>
          <p:cNvSpPr>
            <a:spLocks noGrp="1"/>
          </p:cNvSpPr>
          <p:nvPr>
            <p:ph idx="1"/>
          </p:nvPr>
        </p:nvSpPr>
        <p:spPr/>
        <p:txBody>
          <a:bodyPr/>
          <a:lstStyle/>
          <a:p/>
          <a:p>
            <a:pPr>
              <a:defRPr sz="1800"/>
            </a:pPr>
            <a:r>
              <a:t>Introduction</a:t>
            </a:r>
          </a:p>
          <a:p>
            <a:pPr>
              <a:defRPr sz="1800"/>
            </a:pPr>
            <a:r>
              <a:t>I. Les Outils d'Interrogation</a:t>
            </a:r>
          </a:p>
          <a:p>
            <a:pPr>
              <a:defRPr sz="1800"/>
            </a:pPr>
            <a:r>
              <a:t>II. Les Outils de Description</a:t>
            </a:r>
          </a:p>
          <a:p>
            <a:pPr>
              <a:defRPr sz="1800"/>
            </a:pPr>
            <a:r>
              <a:t>III. Les Outils d'Analyse et de Traitement</a:t>
            </a:r>
          </a:p>
          <a:p>
            <a:pPr>
              <a:defRPr sz="1800"/>
            </a:pPr>
            <a:r>
              <a:t>IV. Les Techniques Modernes et Digitales</a:t>
            </a:r>
          </a:p>
          <a:p>
            <a:pPr>
              <a:defRPr sz="1800"/>
            </a:pPr>
            <a:r>
              <a:t>V. Les Outils de Suivi et de Reporting</a:t>
            </a:r>
          </a:p>
          <a:p>
            <a:pPr>
              <a:defRPr sz="1800"/>
            </a:pPr>
            <a: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
            <a:pPr>
              <a:defRPr sz="1800"/>
            </a:pPr>
            <a:r>
              <a:t>Dans un environnement économique complexe et en constante évolution, l'audit interne joue un rôle crucial dans la gouvernance et la maîtrise des risques des organisations.</a:t>
            </a:r>
          </a:p>
          <a:p>
            <a:pPr>
              <a:defRPr sz="1800"/>
            </a:pPr>
          </a:p>
          <a:p>
            <a:pPr>
              <a:defRPr sz="1800"/>
            </a:pPr>
            <a:r>
              <a:t>L'efficacité d'une mission d'audit repose largement sur la qualité des outils et techniques utilisés par l'auditeur interne. Ces outils permettent de collecter, analyser et interpréter les informations nécessaires pour évaluer le dispositif de contrôle interne et formuler des recommandations pertinentes.</a:t>
            </a:r>
          </a:p>
          <a:p>
            <a:pPr>
              <a:defRPr sz="1800"/>
            </a:pPr>
          </a:p>
          <a:p>
            <a:pPr>
              <a:defRPr sz="1800"/>
            </a:pPr>
            <a:r>
              <a:t>Cette présentation explore les principaux outils et techniques de l'audit interne, depuis les méthodes traditionnelles d'interrogation et de description jusqu'aux approches modernes basées sur les technologies digitales et l'analyse de données.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7315200" cy="914400"/>
          </a:xfrm>
          <a:prstGeom prst="rect">
            <a:avLst/>
          </a:prstGeom>
          <a:noFill/>
        </p:spPr>
        <p:txBody>
          <a:bodyPr wrap="none">
            <a:spAutoFit/>
          </a:bodyPr>
          <a:lstStyle/>
          <a:p>
            <a:pPr algn="ctr">
              <a:defRPr sz="6000" b="1">
                <a:solidFill>
                  <a:srgbClr val="003366"/>
                </a:solidFill>
              </a:defRPr>
            </a:pPr>
            <a:r>
              <a:t>I</a:t>
            </a:r>
          </a:p>
        </p:txBody>
      </p:sp>
      <p:sp>
        <p:nvSpPr>
          <p:cNvPr id="4" name="TextBox 3"/>
          <p:cNvSpPr txBox="1"/>
          <p:nvPr/>
        </p:nvSpPr>
        <p:spPr>
          <a:xfrm>
            <a:off x="914400" y="4114800"/>
            <a:ext cx="7315200" cy="914400"/>
          </a:xfrm>
          <a:prstGeom prst="rect">
            <a:avLst/>
          </a:prstGeom>
          <a:noFill/>
        </p:spPr>
        <p:txBody>
          <a:bodyPr wrap="none">
            <a:spAutoFit/>
          </a:bodyPr>
          <a:lstStyle/>
          <a:p>
            <a:pPr algn="ctr">
              <a:defRPr sz="3200" b="1">
                <a:solidFill>
                  <a:srgbClr val="003366"/>
                </a:solidFill>
              </a:defRPr>
            </a:pPr>
            <a:r>
              <a:t>Les Outils d'Interrogation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Les Outils d'Interrogation</a:t>
            </a:r>
          </a:p>
        </p:txBody>
      </p:sp>
      <p:sp>
        <p:nvSpPr>
          <p:cNvPr id="3" name="Content Placeholder 2"/>
          <p:cNvSpPr>
            <a:spLocks noGrp="1"/>
          </p:cNvSpPr>
          <p:nvPr>
            <p:ph idx="1"/>
          </p:nvPr>
        </p:nvSpPr>
        <p:spPr/>
        <p:txBody>
          <a:bodyPr/>
          <a:lstStyle/>
          <a:p/>
          <a:p>
            <a:pPr>
              <a:defRPr sz="1800"/>
            </a:pPr>
            <a:r>
              <a:t>L'entretien d'audit : définition et objectifs</a:t>
            </a:r>
          </a:p>
          <a:p>
            <a:pPr lvl="1">
              <a:defRPr sz="1600"/>
            </a:pPr>
            <a:r>
              <a:t>L'entretien est un outil fondamental qui permet à l'auditeur de recueillir des informations qualitatives directement auprès des acteurs concernés.</a:t>
            </a:r>
          </a:p>
          <a:p>
            <a:pPr lvl="1">
              <a:defRPr sz="1600"/>
            </a:pPr>
            <a:r>
              <a:t>Il permet de comprendre le fonctionnement réel des processus, d'identifier les dysfonctionnements et de valider les constats.</a:t>
            </a:r>
          </a:p>
          <a:p>
            <a:pPr>
              <a:defRPr sz="1800"/>
            </a:pPr>
          </a:p>
          <a:p>
            <a:pPr>
              <a:defRPr sz="1800"/>
            </a:pPr>
            <a:r>
              <a:t>Types d'entretiens :</a:t>
            </a:r>
          </a:p>
          <a:p>
            <a:pPr lvl="1">
              <a:defRPr sz="1600"/>
            </a:pPr>
            <a:r>
              <a:t>Entretien directif : questions précises et structurées</a:t>
            </a:r>
          </a:p>
          <a:p>
            <a:pPr lvl="1">
              <a:defRPr sz="1600"/>
            </a:pPr>
            <a:r>
              <a:t>Entretien semi-directif : questions ouvertes avec un guide</a:t>
            </a:r>
          </a:p>
          <a:p>
            <a:pPr lvl="1">
              <a:defRPr sz="1600"/>
            </a:pPr>
            <a:r>
              <a:t>Entretien non-directif : conversation libre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Les Outils d'Interrogation</a:t>
            </a:r>
          </a:p>
        </p:txBody>
      </p:sp>
      <p:sp>
        <p:nvSpPr>
          <p:cNvPr id="3" name="Content Placeholder 2"/>
          <p:cNvSpPr>
            <a:spLocks noGrp="1"/>
          </p:cNvSpPr>
          <p:nvPr>
            <p:ph idx="1"/>
          </p:nvPr>
        </p:nvSpPr>
        <p:spPr/>
        <p:txBody>
          <a:bodyPr/>
          <a:lstStyle/>
          <a:p/>
          <a:p>
            <a:pPr>
              <a:defRPr sz="1800"/>
            </a:pPr>
            <a:r>
              <a:t>Bonnes pratiques de conduite d'entretien :</a:t>
            </a:r>
          </a:p>
          <a:p>
            <a:pPr lvl="1">
              <a:defRPr sz="1600"/>
            </a:pPr>
            <a:r>
              <a:t>Préparation : élaborer un guide d'entretien adapté</a:t>
            </a:r>
          </a:p>
          <a:p>
            <a:pPr lvl="1">
              <a:defRPr sz="1600"/>
            </a:pPr>
            <a:r>
              <a:t>Écoute active : laisser l'audité s'exprimer librement</a:t>
            </a:r>
          </a:p>
          <a:p>
            <a:pPr lvl="1">
              <a:defRPr sz="1600"/>
            </a:pPr>
            <a:r>
              <a:t>Questions QQOQCCP : Qui ? Quoi ? Où ? Quand ? Comment ? Combien ? Pourquoi ?</a:t>
            </a:r>
          </a:p>
          <a:p>
            <a:pPr lvl="1">
              <a:defRPr sz="1600"/>
            </a:pPr>
            <a:r>
              <a:t>Prise de notes : documenter les éléments clés</a:t>
            </a:r>
          </a:p>
          <a:p>
            <a:pPr lvl="1">
              <a:defRPr sz="1600"/>
            </a:pPr>
            <a:r>
              <a:t>Validation : reformuler pour s'assurer de la compréhension</a:t>
            </a:r>
          </a:p>
          <a:p>
            <a:pPr>
              <a:defRPr sz="1800"/>
            </a:pPr>
          </a:p>
          <a:p>
            <a:pPr>
              <a:defRPr sz="1800"/>
            </a:pPr>
            <a:r>
              <a:t>Points d'attention :</a:t>
            </a:r>
          </a:p>
          <a:p>
            <a:pPr lvl="1">
              <a:defRPr sz="1600"/>
            </a:pPr>
            <a:r>
              <a:t>Éviter les questions orientées ou suggestives</a:t>
            </a:r>
          </a:p>
          <a:p>
            <a:pPr lvl="1">
              <a:defRPr sz="1600"/>
            </a:pPr>
            <a:r>
              <a:t>Respecter la confidentialité et la déontologie</a:t>
            </a:r>
          </a:p>
          <a:p>
            <a:pPr lvl="1">
              <a:defRPr sz="1600"/>
            </a:pPr>
            <a:r>
              <a:t>Triangulation : croiser avec d'autres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Les Outils d'Interrogation</a:t>
            </a:r>
          </a:p>
        </p:txBody>
      </p:sp>
      <p:sp>
        <p:nvSpPr>
          <p:cNvPr id="3" name="Content Placeholder 2"/>
          <p:cNvSpPr>
            <a:spLocks noGrp="1"/>
          </p:cNvSpPr>
          <p:nvPr>
            <p:ph idx="1"/>
          </p:nvPr>
        </p:nvSpPr>
        <p:spPr/>
        <p:txBody>
          <a:bodyPr/>
          <a:lstStyle/>
          <a:p/>
          <a:p>
            <a:pPr>
              <a:defRPr sz="1800"/>
            </a:pPr>
            <a:r>
              <a:t>Le Questionnaire de Contrôle Interne (QCI)</a:t>
            </a:r>
          </a:p>
          <a:p>
            <a:pPr lvl="1">
              <a:defRPr sz="1600"/>
            </a:pPr>
            <a:r>
              <a:t>Outil structuré permettant d'évaluer systématiquement l'efficacité du contrôle interne</a:t>
            </a:r>
          </a:p>
          <a:p>
            <a:pPr lvl="1">
              <a:defRPr sz="1600"/>
            </a:pPr>
            <a:r>
              <a:t>Questions fermées (Oui/Non) facilitant l'analyse</a:t>
            </a:r>
          </a:p>
          <a:p>
            <a:pPr lvl="1">
              <a:defRPr sz="1600"/>
            </a:pPr>
            <a:r>
              <a:t>Chaque réponse négative révèle une faiblesse potentielle</a:t>
            </a:r>
          </a:p>
          <a:p>
            <a:pPr>
              <a:defRPr sz="1800"/>
            </a:pPr>
          </a:p>
          <a:p>
            <a:pPr>
              <a:defRPr sz="1800"/>
            </a:pPr>
            <a:r>
              <a:t>Élaboration du QCI :</a:t>
            </a:r>
          </a:p>
          <a:p>
            <a:pPr lvl="1">
              <a:defRPr sz="1600"/>
            </a:pPr>
            <a:r>
              <a:t>Basé sur les objectifs de contrôle interne</a:t>
            </a:r>
          </a:p>
          <a:p>
            <a:pPr lvl="1">
              <a:defRPr sz="1600"/>
            </a:pPr>
            <a:r>
              <a:t>Adapté à chaque mission et processus audité</a:t>
            </a:r>
          </a:p>
          <a:p>
            <a:pPr lvl="1">
              <a:defRPr sz="1600"/>
            </a:pPr>
            <a:r>
              <a:t>Structuré par cycle ou par processus</a:t>
            </a:r>
          </a:p>
          <a:p>
            <a:pPr>
              <a:defRPr sz="1800"/>
            </a:pPr>
          </a:p>
          <a:p>
            <a:pPr>
              <a:defRPr sz="1800"/>
            </a:pPr>
            <a:r>
              <a:t>Exemple : QCI cycle achats</a:t>
            </a:r>
          </a:p>
          <a:p>
            <a:pPr lvl="1">
              <a:defRPr sz="1600"/>
            </a:pPr>
            <a:r>
              <a:t>Existe-t-il une séparation des fonctions entre demande, approbation et réception ?</a:t>
            </a:r>
          </a:p>
          <a:p>
            <a:pPr lvl="1">
              <a:defRPr sz="1600"/>
            </a:pPr>
            <a:r>
              <a:t>Les bons de commande sont-ils systématiquement approuvés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Les Outils d'Interrogation</a:t>
            </a:r>
          </a:p>
        </p:txBody>
      </p:sp>
      <p:sp>
        <p:nvSpPr>
          <p:cNvPr id="3" name="Content Placeholder 2"/>
          <p:cNvSpPr>
            <a:spLocks noGrp="1"/>
          </p:cNvSpPr>
          <p:nvPr>
            <p:ph idx="1"/>
          </p:nvPr>
        </p:nvSpPr>
        <p:spPr/>
        <p:txBody>
          <a:bodyPr/>
          <a:lstStyle/>
          <a:p/>
          <a:p>
            <a:pPr>
              <a:defRPr sz="1800"/>
            </a:pPr>
            <a:r>
              <a:t>Les sondages statistiques</a:t>
            </a:r>
          </a:p>
          <a:p>
            <a:pPr lvl="1">
              <a:defRPr sz="1600"/>
            </a:pPr>
            <a:r>
              <a:t>Technique d'échantillonnage pour tester un grand volume de transactions</a:t>
            </a:r>
          </a:p>
          <a:p>
            <a:pPr lvl="1">
              <a:defRPr sz="1600"/>
            </a:pPr>
            <a:r>
              <a:t>Permet d'extrapoler les résultats à l'ensemble de la population</a:t>
            </a:r>
          </a:p>
          <a:p>
            <a:pPr lvl="1">
              <a:defRPr sz="1600"/>
            </a:pPr>
            <a:r>
              <a:t>Méthodes : échantillonnage aléatoire, stratifié, systématique</a:t>
            </a:r>
          </a:p>
          <a:p>
            <a:pPr>
              <a:defRPr sz="1800"/>
            </a:pPr>
          </a:p>
          <a:p>
            <a:pPr>
              <a:defRPr sz="1800"/>
            </a:pPr>
            <a:r>
              <a:t>L'observation physique</a:t>
            </a:r>
          </a:p>
          <a:p>
            <a:pPr lvl="1">
              <a:defRPr sz="1600"/>
            </a:pPr>
            <a:r>
              <a:t>Technique consistant à observer directement les opérations</a:t>
            </a:r>
          </a:p>
          <a:p>
            <a:pPr lvl="1">
              <a:defRPr sz="1600"/>
            </a:pPr>
            <a:r>
              <a:t>Permet de vérifier l'application réelle des procédures</a:t>
            </a:r>
          </a:p>
          <a:p>
            <a:pPr lvl="1">
              <a:defRPr sz="1600"/>
            </a:pPr>
            <a:r>
              <a:t>Utile pour identifier les écarts entre procédures écrites et pratiques</a:t>
            </a:r>
          </a:p>
          <a:p>
            <a:pPr>
              <a:defRPr sz="1800"/>
            </a:pPr>
          </a:p>
          <a:p>
            <a:pPr>
              <a:defRPr sz="1800"/>
            </a:pPr>
            <a:r>
              <a:t>Applications pratiques :</a:t>
            </a:r>
          </a:p>
          <a:p>
            <a:pPr lvl="1">
              <a:defRPr sz="1600"/>
            </a:pPr>
            <a:r>
              <a:t>Observation d'un inventaire physique</a:t>
            </a:r>
          </a:p>
          <a:p>
            <a:pPr lvl="1">
              <a:defRPr sz="1600"/>
            </a:pPr>
            <a:r>
              <a:t>Visite des installations et des sites</a:t>
            </a:r>
          </a:p>
          <a:p>
            <a:pPr lvl="1">
              <a:defRPr sz="1600"/>
            </a:pPr>
            <a:r>
              <a:t>Contrôle de l'application des mesures de sécurité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7315200" cy="914400"/>
          </a:xfrm>
          <a:prstGeom prst="rect">
            <a:avLst/>
          </a:prstGeom>
          <a:noFill/>
        </p:spPr>
        <p:txBody>
          <a:bodyPr wrap="none">
            <a:spAutoFit/>
          </a:bodyPr>
          <a:lstStyle/>
          <a:p>
            <a:pPr algn="ctr">
              <a:defRPr sz="6000" b="1">
                <a:solidFill>
                  <a:srgbClr val="003366"/>
                </a:solidFill>
              </a:defRPr>
            </a:pPr>
            <a:r>
              <a:t>II</a:t>
            </a:r>
          </a:p>
        </p:txBody>
      </p:sp>
      <p:sp>
        <p:nvSpPr>
          <p:cNvPr id="4" name="TextBox 3"/>
          <p:cNvSpPr txBox="1"/>
          <p:nvPr/>
        </p:nvSpPr>
        <p:spPr>
          <a:xfrm>
            <a:off x="914400" y="4114800"/>
            <a:ext cx="7315200" cy="914400"/>
          </a:xfrm>
          <a:prstGeom prst="rect">
            <a:avLst/>
          </a:prstGeom>
          <a:noFill/>
        </p:spPr>
        <p:txBody>
          <a:bodyPr wrap="none">
            <a:spAutoFit/>
          </a:bodyPr>
          <a:lstStyle/>
          <a:p>
            <a:pPr algn="ctr">
              <a:defRPr sz="3200" b="1">
                <a:solidFill>
                  <a:srgbClr val="003366"/>
                </a:solidFill>
              </a:defRPr>
            </a:pPr>
            <a:r>
              <a:t>Les Outils de Description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Les Outils de Description</a:t>
            </a:r>
          </a:p>
        </p:txBody>
      </p:sp>
      <p:sp>
        <p:nvSpPr>
          <p:cNvPr id="3" name="Content Placeholder 2"/>
          <p:cNvSpPr>
            <a:spLocks noGrp="1"/>
          </p:cNvSpPr>
          <p:nvPr>
            <p:ph idx="1"/>
          </p:nvPr>
        </p:nvSpPr>
        <p:spPr/>
        <p:txBody>
          <a:bodyPr/>
          <a:lstStyle/>
          <a:p/>
          <a:p>
            <a:pPr>
              <a:defRPr sz="1800"/>
            </a:pPr>
            <a:r>
              <a:t>Définition et utilité</a:t>
            </a:r>
          </a:p>
          <a:p>
            <a:pPr lvl="1">
              <a:defRPr sz="1600"/>
            </a:pPr>
            <a:r>
              <a:t>Représentation graphique des relations entre fonctions, services et tâches</a:t>
            </a:r>
          </a:p>
          <a:p>
            <a:pPr lvl="1">
              <a:defRPr sz="1600"/>
            </a:pPr>
            <a:r>
              <a:t>Visualisation des flux d'information et des responsabilités</a:t>
            </a:r>
          </a:p>
          <a:p>
            <a:pPr lvl="1">
              <a:defRPr sz="1600"/>
            </a:pPr>
            <a:r>
              <a:t>Identification des points de contrôle et des zones à risque</a:t>
            </a:r>
          </a:p>
          <a:p>
            <a:pPr>
              <a:defRPr sz="1800"/>
            </a:pPr>
          </a:p>
          <a:p>
            <a:pPr>
              <a:defRPr sz="1800"/>
            </a:pPr>
            <a:r>
              <a:t>Éléments à représenter :</a:t>
            </a:r>
          </a:p>
          <a:p>
            <a:pPr lvl="1">
              <a:defRPr sz="1600"/>
            </a:pPr>
            <a:r>
              <a:t>Les acteurs (services, fonctions, personnes)</a:t>
            </a:r>
          </a:p>
          <a:p>
            <a:pPr lvl="1">
              <a:defRPr sz="1600"/>
            </a:pPr>
            <a:r>
              <a:t>Les tâches et opérations</a:t>
            </a:r>
          </a:p>
          <a:p>
            <a:pPr lvl="1">
              <a:defRPr sz="1600"/>
            </a:pPr>
            <a:r>
              <a:t>Les flux d'information et de documents</a:t>
            </a:r>
          </a:p>
          <a:p>
            <a:pPr lvl="1">
              <a:defRPr sz="1600"/>
            </a:pPr>
            <a:r>
              <a:t>Les points de décision et de validation</a:t>
            </a:r>
          </a:p>
          <a:p>
            <a:pPr>
              <a:defRPr sz="1800"/>
            </a:pPr>
          </a:p>
          <a:p>
            <a:pPr>
              <a:defRPr sz="1800"/>
            </a:pPr>
            <a:r>
              <a:t>Avantages :</a:t>
            </a:r>
          </a:p>
          <a:p>
            <a:pPr lvl="1">
              <a:defRPr sz="1600"/>
            </a:pPr>
            <a:r>
              <a:t>Vision claire et synthétique du processus</a:t>
            </a:r>
          </a:p>
          <a:p>
            <a:pPr lvl="1">
              <a:defRPr sz="1600"/>
            </a:pPr>
            <a:r>
              <a:t>Détection rapide des doublons ou absences de contrôle</a:t>
            </a:r>
          </a:p>
          <a:p>
            <a:pPr lvl="1">
              <a:defRPr sz="1600"/>
            </a:pPr>
            <a:r>
              <a:t>Support de communication efficace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Les Outils de Description</a:t>
            </a:r>
          </a:p>
        </p:txBody>
      </p:sp>
      <p:sp>
        <p:nvSpPr>
          <p:cNvPr id="3" name="Content Placeholder 2"/>
          <p:cNvSpPr>
            <a:spLocks noGrp="1"/>
          </p:cNvSpPr>
          <p:nvPr>
            <p:ph idx="1"/>
          </p:nvPr>
        </p:nvSpPr>
        <p:spPr/>
        <p:txBody>
          <a:bodyPr/>
          <a:lstStyle/>
          <a:p/>
          <a:p>
            <a:pPr>
              <a:defRPr sz="1800"/>
            </a:pPr>
            <a:r>
              <a:t>Qu'est-ce qu'un Flow Chart ?</a:t>
            </a:r>
          </a:p>
          <a:p>
            <a:pPr lvl="1">
              <a:defRPr sz="1600"/>
            </a:pPr>
            <a:r>
              <a:t>Représentation graphique détaillée du cheminement des documents et informations</a:t>
            </a:r>
          </a:p>
          <a:p>
            <a:pPr lvl="1">
              <a:defRPr sz="1600"/>
            </a:pPr>
            <a:r>
              <a:t>Utilise des symboles normalisés pour représenter les opérations</a:t>
            </a:r>
          </a:p>
          <a:p>
            <a:pPr lvl="1">
              <a:defRPr sz="1600"/>
            </a:pPr>
            <a:r>
              <a:t>Permet de suivre le parcours complet d'une transaction</a:t>
            </a:r>
          </a:p>
          <a:p>
            <a:pPr>
              <a:defRPr sz="1800"/>
            </a:pPr>
          </a:p>
          <a:p>
            <a:pPr>
              <a:defRPr sz="1800"/>
            </a:pPr>
            <a:r>
              <a:t>Symboles principaux :</a:t>
            </a:r>
          </a:p>
          <a:p>
            <a:pPr lvl="1">
              <a:defRPr sz="1600"/>
            </a:pPr>
            <a:r>
              <a:t>Rectangle : opération ou traitement</a:t>
            </a:r>
          </a:p>
          <a:p>
            <a:pPr lvl="1">
              <a:defRPr sz="1600"/>
            </a:pPr>
            <a:r>
              <a:t>Losange : point de décision</a:t>
            </a:r>
          </a:p>
          <a:p>
            <a:pPr lvl="1">
              <a:defRPr sz="1600"/>
            </a:pPr>
            <a:r>
              <a:t>Flèche : sens de circulation</a:t>
            </a:r>
          </a:p>
          <a:p>
            <a:pPr lvl="1">
              <a:defRPr sz="1600"/>
            </a:pPr>
            <a:r>
              <a:t>Cercle : point de connexion</a:t>
            </a:r>
          </a:p>
          <a:p>
            <a:pPr lvl="1">
              <a:defRPr sz="1600"/>
            </a:pPr>
            <a:r>
              <a:t>Document : support papier ou électronique</a:t>
            </a:r>
          </a:p>
          <a:p>
            <a:pPr>
              <a:defRPr sz="1800"/>
            </a:pPr>
          </a:p>
          <a:p>
            <a:pPr>
              <a:defRPr sz="1800"/>
            </a:pPr>
            <a:r>
              <a:t>Utilisation en audit :</a:t>
            </a:r>
          </a:p>
          <a:p>
            <a:pPr lvl="1">
              <a:defRPr sz="1600"/>
            </a:pPr>
            <a:r>
              <a:t>Comprendre le processus audité</a:t>
            </a:r>
          </a:p>
          <a:p>
            <a:pPr lvl="1">
              <a:defRPr sz="1600"/>
            </a:pPr>
            <a:r>
              <a:t>Identifier les points de contrôle et les failles</a:t>
            </a:r>
          </a:p>
          <a:p>
            <a:pPr lvl="1">
              <a:defRPr sz="1600"/>
            </a:pPr>
            <a:r>
              <a:t>Évaluer la séparation des tâches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Les Outils de Description</a:t>
            </a:r>
          </a:p>
        </p:txBody>
      </p:sp>
      <p:sp>
        <p:nvSpPr>
          <p:cNvPr id="3" name="Content Placeholder 2"/>
          <p:cNvSpPr>
            <a:spLocks noGrp="1"/>
          </p:cNvSpPr>
          <p:nvPr>
            <p:ph idx="1"/>
          </p:nvPr>
        </p:nvSpPr>
        <p:spPr/>
        <p:txBody>
          <a:bodyPr/>
          <a:lstStyle/>
          <a:p/>
          <a:p>
            <a:pPr>
              <a:defRPr sz="1800"/>
            </a:pPr>
            <a:r>
              <a:t>Principe et objectif</a:t>
            </a:r>
          </a:p>
          <a:p>
            <a:pPr lvl="1">
              <a:defRPr sz="1600"/>
            </a:pPr>
            <a:r>
              <a:t>Outil permettant de vérifier la répartition des tâches incompatibles</a:t>
            </a:r>
          </a:p>
          <a:p>
            <a:pPr lvl="1">
              <a:defRPr sz="1600"/>
            </a:pPr>
            <a:r>
              <a:t>Prévention du risque de fraude et d'erreur</a:t>
            </a:r>
          </a:p>
          <a:p>
            <a:pPr lvl="1">
              <a:defRPr sz="1600"/>
            </a:pPr>
            <a:r>
              <a:t>Respect du principe de séparation des fonctions</a:t>
            </a:r>
          </a:p>
          <a:p>
            <a:pPr>
              <a:defRPr sz="1800"/>
            </a:pPr>
          </a:p>
          <a:p>
            <a:pPr>
              <a:defRPr sz="1800"/>
            </a:pPr>
            <a:r>
              <a:t>Construction de la grille :</a:t>
            </a:r>
          </a:p>
          <a:p>
            <a:pPr lvl="1">
              <a:defRPr sz="1600"/>
            </a:pPr>
            <a:r>
              <a:t>En colonne : les différentes personnes ou fonctions</a:t>
            </a:r>
          </a:p>
          <a:p>
            <a:pPr lvl="1">
              <a:defRPr sz="1600"/>
            </a:pPr>
            <a:r>
              <a:t>En ligne : les différentes tâches du processus</a:t>
            </a:r>
          </a:p>
          <a:p>
            <a:pPr lvl="1">
              <a:defRPr sz="1600"/>
            </a:pPr>
            <a:r>
              <a:t>Matérialisation par une croix à l'intersection</a:t>
            </a:r>
          </a:p>
          <a:p>
            <a:pPr>
              <a:defRPr sz="1800"/>
            </a:pPr>
          </a:p>
          <a:p>
            <a:pPr>
              <a:defRPr sz="1800"/>
            </a:pPr>
            <a:r>
              <a:t>Analyse :</a:t>
            </a:r>
          </a:p>
          <a:p>
            <a:pPr lvl="1">
              <a:defRPr sz="1600"/>
            </a:pPr>
            <a:r>
              <a:t>Une même personne ne doit pas cumuler des tâches incompatibles</a:t>
            </a:r>
          </a:p>
          <a:p>
            <a:pPr lvl="1">
              <a:defRPr sz="1600"/>
            </a:pPr>
            <a:r>
              <a:t>Exemple : ne pas autoriser ET exécuter une transaction</a:t>
            </a:r>
          </a:p>
          <a:p>
            <a:pPr lvl="1">
              <a:defRPr sz="1600"/>
            </a:pPr>
            <a:r>
              <a:t>Fonctions incompatibles : engagement/paiement, garde/comptabilisation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Les Outils de Description</a:t>
            </a:r>
          </a:p>
        </p:txBody>
      </p:sp>
      <p:sp>
        <p:nvSpPr>
          <p:cNvPr id="3" name="Content Placeholder 2"/>
          <p:cNvSpPr>
            <a:spLocks noGrp="1"/>
          </p:cNvSpPr>
          <p:nvPr>
            <p:ph idx="1"/>
          </p:nvPr>
        </p:nvSpPr>
        <p:spPr/>
        <p:txBody>
          <a:bodyPr/>
          <a:lstStyle/>
          <a:p/>
          <a:p>
            <a:pPr>
              <a:defRPr sz="1800"/>
            </a:pPr>
            <a:r>
              <a:t>Définition</a:t>
            </a:r>
          </a:p>
          <a:p>
            <a:pPr lvl="1">
              <a:defRPr sz="1600"/>
            </a:pPr>
            <a:r>
              <a:t>Reconstitution chronologique d'une opération de bout en bout</a:t>
            </a:r>
          </a:p>
          <a:p>
            <a:pPr lvl="1">
              <a:defRPr sz="1600"/>
            </a:pPr>
            <a:r>
              <a:t>Permet de suivre une transaction depuis son origine jusqu'à son enregistrement final</a:t>
            </a:r>
          </a:p>
          <a:p>
            <a:pPr lvl="1">
              <a:defRPr sz="1600"/>
            </a:pPr>
            <a:r>
              <a:t>Vérification de la traçabilité et de l'intégrité des données</a:t>
            </a:r>
          </a:p>
          <a:p>
            <a:pPr>
              <a:defRPr sz="1800"/>
            </a:pPr>
          </a:p>
          <a:p>
            <a:pPr>
              <a:defRPr sz="1800"/>
            </a:pPr>
            <a:r>
              <a:t>Démarche :</a:t>
            </a:r>
          </a:p>
          <a:p>
            <a:pPr lvl="1">
              <a:defRPr sz="1600"/>
            </a:pPr>
            <a:r>
              <a:t>Approche descendante (Top-Down) : du document source à la comptabilité</a:t>
            </a:r>
          </a:p>
          <a:p>
            <a:pPr lvl="1">
              <a:defRPr sz="1600"/>
            </a:pPr>
            <a:r>
              <a:t>Approche ascendante (Bottom-Up) : de l'écriture comptable au justificatif</a:t>
            </a:r>
          </a:p>
          <a:p>
            <a:pPr>
              <a:defRPr sz="1800"/>
            </a:pPr>
          </a:p>
          <a:p>
            <a:pPr>
              <a:defRPr sz="1800"/>
            </a:pPr>
            <a:r>
              <a:t>Objectifs :</a:t>
            </a:r>
          </a:p>
          <a:p>
            <a:pPr lvl="1">
              <a:defRPr sz="1600"/>
            </a:pPr>
            <a:r>
              <a:t>Vérifier l'existence et la validité des transactions</a:t>
            </a:r>
          </a:p>
          <a:p>
            <a:pPr lvl="1">
              <a:defRPr sz="1600"/>
            </a:pPr>
            <a:r>
              <a:t>S'assurer de l'exhaustivité des enregistrements</a:t>
            </a:r>
          </a:p>
          <a:p>
            <a:pPr lvl="1">
              <a:defRPr sz="1600"/>
            </a:pPr>
            <a:r>
              <a:t>Contrôler la conformité aux procédures</a:t>
            </a:r>
          </a:p>
          <a:p>
            <a:pPr lvl="1">
              <a:defRPr sz="1600"/>
            </a:pPr>
            <a:r>
              <a:t>Évaluer la qualité du système d'information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7315200" cy="914400"/>
          </a:xfrm>
          <a:prstGeom prst="rect">
            <a:avLst/>
          </a:prstGeom>
          <a:noFill/>
        </p:spPr>
        <p:txBody>
          <a:bodyPr wrap="none">
            <a:spAutoFit/>
          </a:bodyPr>
          <a:lstStyle/>
          <a:p>
            <a:pPr algn="ctr">
              <a:defRPr sz="6000" b="1">
                <a:solidFill>
                  <a:srgbClr val="003366"/>
                </a:solidFill>
              </a:defRPr>
            </a:pPr>
            <a:r>
              <a:t>III</a:t>
            </a:r>
          </a:p>
        </p:txBody>
      </p:sp>
      <p:sp>
        <p:nvSpPr>
          <p:cNvPr id="4" name="TextBox 3"/>
          <p:cNvSpPr txBox="1"/>
          <p:nvPr/>
        </p:nvSpPr>
        <p:spPr>
          <a:xfrm>
            <a:off x="914400" y="4114800"/>
            <a:ext cx="7315200" cy="914400"/>
          </a:xfrm>
          <a:prstGeom prst="rect">
            <a:avLst/>
          </a:prstGeom>
          <a:noFill/>
        </p:spPr>
        <p:txBody>
          <a:bodyPr wrap="none">
            <a:spAutoFit/>
          </a:bodyPr>
          <a:lstStyle/>
          <a:p>
            <a:pPr algn="ctr">
              <a:defRPr sz="3200" b="1">
                <a:solidFill>
                  <a:srgbClr val="003366"/>
                </a:solidFill>
              </a:defRPr>
            </a:pPr>
            <a:r>
              <a:t>Les Outils d'Analyse et de Traitement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Les Outils d'Analyse et de Traitement</a:t>
            </a:r>
          </a:p>
        </p:txBody>
      </p:sp>
      <p:sp>
        <p:nvSpPr>
          <p:cNvPr id="3" name="Content Placeholder 2"/>
          <p:cNvSpPr>
            <a:spLocks noGrp="1"/>
          </p:cNvSpPr>
          <p:nvPr>
            <p:ph idx="1"/>
          </p:nvPr>
        </p:nvSpPr>
        <p:spPr/>
        <p:txBody>
          <a:bodyPr/>
          <a:lstStyle/>
          <a:p/>
          <a:p>
            <a:pPr>
              <a:defRPr sz="1800"/>
            </a:pPr>
            <a:r>
              <a:t>Qu'est-ce que la FRAP ?</a:t>
            </a:r>
          </a:p>
          <a:p>
            <a:pPr lvl="1">
              <a:defRPr sz="1600"/>
            </a:pPr>
            <a:r>
              <a:t>Outil méthodologique pour formaliser les constats d'audit</a:t>
            </a:r>
          </a:p>
          <a:p>
            <a:pPr lvl="1">
              <a:defRPr sz="1600"/>
            </a:pPr>
            <a:r>
              <a:t>Document structuré décrivant un dysfonctionnement</a:t>
            </a:r>
          </a:p>
          <a:p>
            <a:pPr lvl="1">
              <a:defRPr sz="1600"/>
            </a:pPr>
            <a:r>
              <a:t>Base pour l'élaboration des recommandations</a:t>
            </a:r>
          </a:p>
          <a:p>
            <a:pPr>
              <a:defRPr sz="1800"/>
            </a:pPr>
          </a:p>
          <a:p>
            <a:pPr>
              <a:defRPr sz="1800"/>
            </a:pPr>
            <a:r>
              <a:t>Structure de la FRAP :</a:t>
            </a:r>
          </a:p>
          <a:p>
            <a:pPr lvl="1">
              <a:defRPr sz="1600"/>
            </a:pPr>
            <a:r>
              <a:t>Problème : description du dysfonctionnement constaté</a:t>
            </a:r>
          </a:p>
          <a:p>
            <a:pPr lvl="1">
              <a:defRPr sz="1600"/>
            </a:pPr>
            <a:r>
              <a:t>Faits : preuves et éléments factuels observés</a:t>
            </a:r>
          </a:p>
          <a:p>
            <a:pPr lvl="1">
              <a:defRPr sz="1600"/>
            </a:pPr>
            <a:r>
              <a:t>Causes : origines du problème identifié</a:t>
            </a:r>
          </a:p>
          <a:p>
            <a:pPr lvl="1">
              <a:defRPr sz="1600"/>
            </a:pPr>
            <a:r>
              <a:t>Conséquences : impacts réels ou potentiels</a:t>
            </a:r>
          </a:p>
          <a:p>
            <a:pPr lvl="1">
              <a:defRPr sz="1600"/>
            </a:pPr>
            <a:r>
              <a:t>Recommandations : actions correctives proposées</a:t>
            </a:r>
          </a:p>
          <a:p>
            <a:pPr>
              <a:defRPr sz="1800"/>
            </a:pPr>
          </a:p>
          <a:p>
            <a:pPr>
              <a:defRPr sz="1800"/>
            </a:pPr>
            <a:r>
              <a:t>Avantages :</a:t>
            </a:r>
          </a:p>
          <a:p>
            <a:pPr lvl="1">
              <a:defRPr sz="1600"/>
            </a:pPr>
            <a:r>
              <a:t>Structuration de la pensée de l'auditeur</a:t>
            </a:r>
          </a:p>
          <a:p>
            <a:pPr lvl="1">
              <a:defRPr sz="1600"/>
            </a:pPr>
            <a:r>
              <a:t>Communication claire avec les audités</a:t>
            </a:r>
          </a:p>
          <a:p>
            <a:pPr lvl="1">
              <a:defRPr sz="1600"/>
            </a:pPr>
            <a:r>
              <a:t>Traçabilité de la démarche d'audit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Les Outils d'Analyse et de Traitement</a:t>
            </a:r>
          </a:p>
        </p:txBody>
      </p:sp>
      <p:sp>
        <p:nvSpPr>
          <p:cNvPr id="3" name="Content Placeholder 2"/>
          <p:cNvSpPr>
            <a:spLocks noGrp="1"/>
          </p:cNvSpPr>
          <p:nvPr>
            <p:ph idx="1"/>
          </p:nvPr>
        </p:nvSpPr>
        <p:spPr/>
        <p:txBody>
          <a:bodyPr/>
          <a:lstStyle/>
          <a:p/>
          <a:p>
            <a:pPr>
              <a:defRPr sz="1800"/>
            </a:pPr>
            <a:r>
              <a:t>Objectif et utilisation</a:t>
            </a:r>
          </a:p>
          <a:p>
            <a:pPr lvl="1">
              <a:defRPr sz="1600"/>
            </a:pPr>
            <a:r>
              <a:t>Synthèse de l'évaluation du contrôle interne</a:t>
            </a:r>
          </a:p>
          <a:p>
            <a:pPr lvl="1">
              <a:defRPr sz="1600"/>
            </a:pPr>
            <a:r>
              <a:t>Identification des points forts et des zones à risque</a:t>
            </a:r>
          </a:p>
          <a:p>
            <a:pPr lvl="1">
              <a:defRPr sz="1600"/>
            </a:pPr>
            <a:r>
              <a:t>Base pour la définition du programme de vérifications</a:t>
            </a:r>
          </a:p>
          <a:p>
            <a:pPr>
              <a:defRPr sz="1800"/>
            </a:pPr>
          </a:p>
          <a:p>
            <a:pPr>
              <a:defRPr sz="1800"/>
            </a:pPr>
            <a:r>
              <a:t>Construction du tableau :</a:t>
            </a:r>
          </a:p>
          <a:p>
            <a:pPr lvl="1">
              <a:defRPr sz="1600"/>
            </a:pPr>
            <a:r>
              <a:t>Colonne 1 : Forces (points de contrôle efficaces)</a:t>
            </a:r>
          </a:p>
          <a:p>
            <a:pPr lvl="1">
              <a:defRPr sz="1600"/>
            </a:pPr>
            <a:r>
              <a:t>Colonne 2 : Faiblesses (défaillances identifiées)</a:t>
            </a:r>
          </a:p>
          <a:p>
            <a:pPr lvl="1">
              <a:defRPr sz="1600"/>
            </a:pPr>
            <a:r>
              <a:t>Classification par processus ou par risque</a:t>
            </a:r>
          </a:p>
          <a:p>
            <a:pPr>
              <a:defRPr sz="1800"/>
            </a:pPr>
          </a:p>
          <a:p>
            <a:pPr>
              <a:defRPr sz="1800"/>
            </a:pPr>
            <a:r>
              <a:t>Exploitation :</a:t>
            </a:r>
          </a:p>
          <a:p>
            <a:pPr lvl="1">
              <a:defRPr sz="1600"/>
            </a:pPr>
            <a:r>
              <a:t>Les forces seront testées pour confirmer leur efficacité</a:t>
            </a:r>
          </a:p>
          <a:p>
            <a:pPr lvl="1">
              <a:defRPr sz="1600"/>
            </a:pPr>
            <a:r>
              <a:t>Les faiblesses feront l'objet de tests approfondis</a:t>
            </a:r>
          </a:p>
          <a:p>
            <a:pPr lvl="1">
              <a:defRPr sz="1600"/>
            </a:pPr>
            <a:r>
              <a:t>Priorisation des travaux d'audit selon la criticité</a:t>
            </a:r>
          </a:p>
          <a:p>
            <a:pPr lvl="1">
              <a:defRPr sz="1600"/>
            </a:pPr>
            <a:r>
              <a:t>Lien direct avec le plan d'audit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Les Outils d'Analyse et de Traitement</a:t>
            </a:r>
          </a:p>
        </p:txBody>
      </p:sp>
      <p:sp>
        <p:nvSpPr>
          <p:cNvPr id="3" name="Content Placeholder 2"/>
          <p:cNvSpPr>
            <a:spLocks noGrp="1"/>
          </p:cNvSpPr>
          <p:nvPr>
            <p:ph idx="1"/>
          </p:nvPr>
        </p:nvSpPr>
        <p:spPr/>
        <p:txBody>
          <a:bodyPr/>
          <a:lstStyle/>
          <a:p/>
          <a:p>
            <a:pPr>
              <a:defRPr sz="1800"/>
            </a:pPr>
            <a:r>
              <a:t>Tests de conformité (Tests of Controls)</a:t>
            </a:r>
          </a:p>
          <a:p>
            <a:pPr lvl="1">
              <a:defRPr sz="1600"/>
            </a:pPr>
            <a:r>
              <a:t>Vérification de l'existence et de l'application des contrôles</a:t>
            </a:r>
          </a:p>
          <a:p>
            <a:pPr lvl="1">
              <a:defRPr sz="1600"/>
            </a:pPr>
            <a:r>
              <a:t>Objectif : s'assurer que les procédures sont respectées</a:t>
            </a:r>
          </a:p>
          <a:p>
            <a:pPr lvl="1">
              <a:defRPr sz="1600"/>
            </a:pPr>
            <a:r>
              <a:t>Méthodes : observation, réinterrogation, ré-exécution</a:t>
            </a:r>
          </a:p>
          <a:p>
            <a:pPr>
              <a:defRPr sz="1800"/>
            </a:pPr>
          </a:p>
          <a:p>
            <a:pPr>
              <a:defRPr sz="1800"/>
            </a:pPr>
            <a:r>
              <a:t>Tests de substance (Substantive Tests)</a:t>
            </a:r>
          </a:p>
          <a:p>
            <a:pPr lvl="1">
              <a:defRPr sz="1600"/>
            </a:pPr>
            <a:r>
              <a:t>Vérification de l'exactitude et de la validité des données</a:t>
            </a:r>
          </a:p>
          <a:p>
            <a:pPr lvl="1">
              <a:defRPr sz="1600"/>
            </a:pPr>
            <a:r>
              <a:t>Objectif : détecter les erreurs ou anomalies significatives</a:t>
            </a:r>
          </a:p>
          <a:p>
            <a:pPr lvl="1">
              <a:defRPr sz="1600"/>
            </a:pPr>
            <a:r>
              <a:t>Méthodes : contrôle arithmétique, rapprochement, confirmation</a:t>
            </a:r>
          </a:p>
          <a:p>
            <a:pPr>
              <a:defRPr sz="1800"/>
            </a:pPr>
          </a:p>
          <a:p>
            <a:pPr>
              <a:defRPr sz="1800"/>
            </a:pPr>
            <a:r>
              <a:t>Complémentarité des tests :</a:t>
            </a:r>
          </a:p>
          <a:p>
            <a:pPr lvl="1">
              <a:defRPr sz="1600"/>
            </a:pPr>
            <a:r>
              <a:t>Tests de conformité → Efficacité du contrôle interne</a:t>
            </a:r>
          </a:p>
          <a:p>
            <a:pPr lvl="1">
              <a:defRPr sz="1600"/>
            </a:pPr>
            <a:r>
              <a:t>Tests de substance → Fiabilité des informations</a:t>
            </a:r>
          </a:p>
          <a:p>
            <a:pPr lvl="1">
              <a:defRPr sz="1600"/>
            </a:pPr>
            <a:r>
              <a:t>Approche combinée pour une assurance raisonnable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Les Outils d'Analyse et de Traitement</a:t>
            </a:r>
          </a:p>
        </p:txBody>
      </p:sp>
      <p:sp>
        <p:nvSpPr>
          <p:cNvPr id="3" name="Content Placeholder 2"/>
          <p:cNvSpPr>
            <a:spLocks noGrp="1"/>
          </p:cNvSpPr>
          <p:nvPr>
            <p:ph idx="1"/>
          </p:nvPr>
        </p:nvSpPr>
        <p:spPr/>
        <p:txBody>
          <a:bodyPr/>
          <a:lstStyle/>
          <a:p/>
          <a:p>
            <a:pPr>
              <a:defRPr sz="1800"/>
            </a:pPr>
            <a:r>
              <a:t>Le tableau de risques</a:t>
            </a:r>
          </a:p>
          <a:p>
            <a:pPr lvl="1">
              <a:defRPr sz="1600"/>
            </a:pPr>
            <a:r>
              <a:t>Identification systématique des risques par processus</a:t>
            </a:r>
          </a:p>
          <a:p>
            <a:pPr lvl="1">
              <a:defRPr sz="1600"/>
            </a:pPr>
            <a:r>
              <a:t>Évaluation de la probabilité et de l'impact</a:t>
            </a:r>
          </a:p>
          <a:p>
            <a:pPr lvl="1">
              <a:defRPr sz="1600"/>
            </a:pPr>
            <a:r>
              <a:t>Priorisation des zones à auditer</a:t>
            </a:r>
          </a:p>
          <a:p>
            <a:pPr>
              <a:defRPr sz="1800"/>
            </a:pPr>
          </a:p>
          <a:p>
            <a:pPr>
              <a:defRPr sz="1800"/>
            </a:pPr>
            <a:r>
              <a:t>Critères d'évaluation :</a:t>
            </a:r>
          </a:p>
          <a:p>
            <a:pPr lvl="1">
              <a:defRPr sz="1600"/>
            </a:pPr>
            <a:r>
              <a:t>Impact : faible, moyen, élevé, critique</a:t>
            </a:r>
          </a:p>
          <a:p>
            <a:pPr lvl="1">
              <a:defRPr sz="1600"/>
            </a:pPr>
            <a:r>
              <a:t>Probabilité : rare, possible, probable, quasi-certain</a:t>
            </a:r>
          </a:p>
          <a:p>
            <a:pPr lvl="1">
              <a:defRPr sz="1600"/>
            </a:pPr>
            <a:r>
              <a:t>Niveau de maîtrise : contrôles existants et efficaces</a:t>
            </a:r>
          </a:p>
          <a:p>
            <a:pPr>
              <a:defRPr sz="1800"/>
            </a:pPr>
          </a:p>
          <a:p>
            <a:pPr>
              <a:defRPr sz="1800"/>
            </a:pPr>
            <a:r>
              <a:t>La cartographie des risques :</a:t>
            </a:r>
          </a:p>
          <a:p>
            <a:pPr lvl="1">
              <a:defRPr sz="1600"/>
            </a:pPr>
            <a:r>
              <a:t>Représentation visuelle (matrice de risques)</a:t>
            </a:r>
          </a:p>
          <a:p>
            <a:pPr lvl="1">
              <a:defRPr sz="1600"/>
            </a:pPr>
            <a:r>
              <a:t>Axe horizontal : probabilité / Axe vertical : impact</a:t>
            </a:r>
          </a:p>
          <a:p>
            <a:pPr lvl="1">
              <a:defRPr sz="1600"/>
            </a:pPr>
            <a:r>
              <a:t>Identification des risques critiques (zone rouge)</a:t>
            </a:r>
          </a:p>
          <a:p>
            <a:pPr lvl="1">
              <a:defRPr sz="1600"/>
            </a:pPr>
            <a:r>
              <a:t>Outil de communication avec la direction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7315200" cy="914400"/>
          </a:xfrm>
          <a:prstGeom prst="rect">
            <a:avLst/>
          </a:prstGeom>
          <a:noFill/>
        </p:spPr>
        <p:txBody>
          <a:bodyPr wrap="none">
            <a:spAutoFit/>
          </a:bodyPr>
          <a:lstStyle/>
          <a:p>
            <a:pPr algn="ctr">
              <a:defRPr sz="6000" b="1">
                <a:solidFill>
                  <a:srgbClr val="003366"/>
                </a:solidFill>
              </a:defRPr>
            </a:pPr>
            <a:r>
              <a:t>IV</a:t>
            </a:r>
          </a:p>
        </p:txBody>
      </p:sp>
      <p:sp>
        <p:nvSpPr>
          <p:cNvPr id="4" name="TextBox 3"/>
          <p:cNvSpPr txBox="1"/>
          <p:nvPr/>
        </p:nvSpPr>
        <p:spPr>
          <a:xfrm>
            <a:off x="914400" y="4114800"/>
            <a:ext cx="7315200" cy="914400"/>
          </a:xfrm>
          <a:prstGeom prst="rect">
            <a:avLst/>
          </a:prstGeom>
          <a:noFill/>
        </p:spPr>
        <p:txBody>
          <a:bodyPr wrap="none">
            <a:spAutoFit/>
          </a:bodyPr>
          <a:lstStyle/>
          <a:p>
            <a:pPr algn="ctr">
              <a:defRPr sz="3200" b="1">
                <a:solidFill>
                  <a:srgbClr val="003366"/>
                </a:solidFill>
              </a:defRPr>
            </a:pPr>
            <a:r>
              <a:t>Les Techniques Modernes et Digitales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Les Techniques Modernes et Digitales</a:t>
            </a:r>
          </a:p>
        </p:txBody>
      </p:sp>
      <p:sp>
        <p:nvSpPr>
          <p:cNvPr id="3" name="Content Placeholder 2"/>
          <p:cNvSpPr>
            <a:spLocks noGrp="1"/>
          </p:cNvSpPr>
          <p:nvPr>
            <p:ph idx="1"/>
          </p:nvPr>
        </p:nvSpPr>
        <p:spPr/>
        <p:txBody>
          <a:bodyPr/>
          <a:lstStyle/>
          <a:p/>
          <a:p>
            <a:pPr>
              <a:defRPr sz="1800"/>
            </a:pPr>
            <a:r>
              <a:t>Computer-Assisted Audit Techniques (CAATs)</a:t>
            </a:r>
          </a:p>
          <a:p>
            <a:pPr lvl="1">
              <a:defRPr sz="1600"/>
            </a:pPr>
            <a:r>
              <a:t>Utilisation de logiciels pour analyser de grandes quantités de données</a:t>
            </a:r>
          </a:p>
          <a:p>
            <a:pPr lvl="1">
              <a:defRPr sz="1600"/>
            </a:pPr>
            <a:r>
              <a:t>Automatisation des tests et contrôles</a:t>
            </a:r>
          </a:p>
          <a:p>
            <a:pPr lvl="1">
              <a:defRPr sz="1600"/>
            </a:pPr>
            <a:r>
              <a:t>Augmentation de la couverture et de l'efficacité de l'audit</a:t>
            </a:r>
          </a:p>
          <a:p>
            <a:pPr>
              <a:defRPr sz="1800"/>
            </a:pPr>
          </a:p>
          <a:p>
            <a:pPr>
              <a:defRPr sz="1800"/>
            </a:pPr>
            <a:r>
              <a:t>Techniques principales :</a:t>
            </a:r>
          </a:p>
          <a:p>
            <a:pPr lvl="1">
              <a:defRPr sz="1600"/>
            </a:pPr>
            <a:r>
              <a:t>Extraction et analyse de fichiers de données</a:t>
            </a:r>
          </a:p>
          <a:p>
            <a:pPr lvl="1">
              <a:defRPr sz="1600"/>
            </a:pPr>
            <a:r>
              <a:t>Tests automatisés de conformité</a:t>
            </a:r>
          </a:p>
          <a:p>
            <a:pPr lvl="1">
              <a:defRPr sz="1600"/>
            </a:pPr>
            <a:r>
              <a:t>Détection d'anomalies et d'exceptions</a:t>
            </a:r>
          </a:p>
          <a:p>
            <a:pPr lvl="1">
              <a:defRPr sz="1600"/>
            </a:pPr>
            <a:r>
              <a:t>Échantillonnage statistique automatisé</a:t>
            </a:r>
          </a:p>
          <a:p>
            <a:pPr>
              <a:defRPr sz="1800"/>
            </a:pPr>
          </a:p>
          <a:p>
            <a:pPr>
              <a:defRPr sz="1800"/>
            </a:pPr>
            <a:r>
              <a:t>Logiciels couramment utilisés :</a:t>
            </a:r>
          </a:p>
          <a:p>
            <a:pPr lvl="1">
              <a:defRPr sz="1600"/>
            </a:pPr>
            <a:r>
              <a:t>ACL Analytics / Galvanize (maintenant Diligent)</a:t>
            </a:r>
          </a:p>
          <a:p>
            <a:pPr lvl="1">
              <a:defRPr sz="1600"/>
            </a:pPr>
            <a:r>
              <a:t>IDEA (Interactive Data Extraction and Analysis)</a:t>
            </a:r>
          </a:p>
          <a:p>
            <a:pPr lvl="1">
              <a:defRPr sz="1600"/>
            </a:pPr>
            <a:r>
              <a:t>Excel avancé avec macros et Power Query</a:t>
            </a:r>
          </a:p>
          <a:p>
            <a:pPr lvl="1">
              <a:defRPr sz="1600"/>
            </a:pPr>
            <a:r>
              <a:t>Scripts Python / R pour analyses complexes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Les Techniques Modernes et Digitales</a:t>
            </a:r>
          </a:p>
        </p:txBody>
      </p:sp>
      <p:sp>
        <p:nvSpPr>
          <p:cNvPr id="3" name="Content Placeholder 2"/>
          <p:cNvSpPr>
            <a:spLocks noGrp="1"/>
          </p:cNvSpPr>
          <p:nvPr>
            <p:ph idx="1"/>
          </p:nvPr>
        </p:nvSpPr>
        <p:spPr/>
        <p:txBody>
          <a:bodyPr/>
          <a:lstStyle/>
          <a:p/>
          <a:p>
            <a:pPr>
              <a:defRPr sz="1800"/>
            </a:pPr>
            <a:r>
              <a:t>L'analyse de données massives (Big Data)</a:t>
            </a:r>
          </a:p>
          <a:p>
            <a:pPr lvl="1">
              <a:defRPr sz="1600"/>
            </a:pPr>
            <a:r>
              <a:t>Analyse exhaustive vs échantillonnage traditionnel</a:t>
            </a:r>
          </a:p>
          <a:p>
            <a:pPr lvl="1">
              <a:defRPr sz="1600"/>
            </a:pPr>
            <a:r>
              <a:t>Détection de patterns et d'anomalies</a:t>
            </a:r>
          </a:p>
          <a:p>
            <a:pPr lvl="1">
              <a:defRPr sz="1600"/>
            </a:pPr>
            <a:r>
              <a:t>Audit en continu (Continuous Auditing)</a:t>
            </a:r>
          </a:p>
          <a:p>
            <a:pPr>
              <a:defRPr sz="1800"/>
            </a:pPr>
          </a:p>
          <a:p>
            <a:pPr>
              <a:defRPr sz="1800"/>
            </a:pPr>
            <a:r>
              <a:t>Techniques d'analyse :</a:t>
            </a:r>
          </a:p>
          <a:p>
            <a:pPr lvl="1">
              <a:defRPr sz="1600"/>
            </a:pPr>
            <a:r>
              <a:t>Analyse descriptive : statistiques et tendances</a:t>
            </a:r>
          </a:p>
          <a:p>
            <a:pPr lvl="1">
              <a:defRPr sz="1600"/>
            </a:pPr>
            <a:r>
              <a:t>Analyse diagnostique : identification des causes</a:t>
            </a:r>
          </a:p>
          <a:p>
            <a:pPr lvl="1">
              <a:defRPr sz="1600"/>
            </a:pPr>
            <a:r>
              <a:t>Analyse prédictive : modélisation des risques futurs</a:t>
            </a:r>
          </a:p>
          <a:p>
            <a:pPr lvl="1">
              <a:defRPr sz="1600"/>
            </a:pPr>
            <a:r>
              <a:t>Analyse prescriptive : recommandations automatisées</a:t>
            </a:r>
          </a:p>
          <a:p>
            <a:pPr>
              <a:defRPr sz="1800"/>
            </a:pPr>
          </a:p>
          <a:p>
            <a:pPr>
              <a:defRPr sz="1800"/>
            </a:pPr>
            <a:r>
              <a:t>Applications pratiques :</a:t>
            </a:r>
          </a:p>
          <a:p>
            <a:pPr lvl="1">
              <a:defRPr sz="1600"/>
            </a:pPr>
            <a:r>
              <a:t>Détection de fraudes (duplicate payments, benford's law)</a:t>
            </a:r>
          </a:p>
          <a:p>
            <a:pPr lvl="1">
              <a:defRPr sz="1600"/>
            </a:pPr>
            <a:r>
              <a:t>Analyse des cycles de facturation</a:t>
            </a:r>
          </a:p>
          <a:p>
            <a:pPr lvl="1">
              <a:defRPr sz="1600"/>
            </a:pPr>
            <a:r>
              <a:t>Contrôle des accès et des autorisations</a:t>
            </a:r>
          </a:p>
          <a:p>
            <a:pPr lvl="1">
              <a:defRPr sz="1600"/>
            </a:pPr>
            <a:r>
              <a:t>Conformité réglementaire automatisée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Les Techniques Modernes et Digitales</a:t>
            </a:r>
          </a:p>
        </p:txBody>
      </p:sp>
      <p:sp>
        <p:nvSpPr>
          <p:cNvPr id="3" name="Content Placeholder 2"/>
          <p:cNvSpPr>
            <a:spLocks noGrp="1"/>
          </p:cNvSpPr>
          <p:nvPr>
            <p:ph idx="1"/>
          </p:nvPr>
        </p:nvSpPr>
        <p:spPr/>
        <p:txBody>
          <a:bodyPr/>
          <a:lstStyle/>
          <a:p/>
          <a:p>
            <a:pPr>
              <a:defRPr sz="1800"/>
            </a:pPr>
            <a:r>
              <a:t>IA et Machine Learning en audit</a:t>
            </a:r>
          </a:p>
          <a:p>
            <a:pPr lvl="1">
              <a:defRPr sz="1600"/>
            </a:pPr>
            <a:r>
              <a:t>Automatisation intelligente des tâches répétitives</a:t>
            </a:r>
          </a:p>
          <a:p>
            <a:pPr lvl="1">
              <a:defRPr sz="1600"/>
            </a:pPr>
            <a:r>
              <a:t>Détection avancée d'anomalies et de fraudes</a:t>
            </a:r>
          </a:p>
          <a:p>
            <a:pPr lvl="1">
              <a:defRPr sz="1600"/>
            </a:pPr>
            <a:r>
              <a:t>Analyse prédictive des risques</a:t>
            </a:r>
          </a:p>
          <a:p>
            <a:pPr>
              <a:defRPr sz="1800"/>
            </a:pPr>
          </a:p>
          <a:p>
            <a:pPr>
              <a:defRPr sz="1800"/>
            </a:pPr>
            <a:r>
              <a:t>Applications concrètes :</a:t>
            </a:r>
          </a:p>
          <a:p>
            <a:pPr lvl="1">
              <a:defRPr sz="1600"/>
            </a:pPr>
            <a:r>
              <a:t>Traitement automatique du langage naturel (NLP)</a:t>
            </a:r>
          </a:p>
          <a:p>
            <a:pPr lvl="1">
              <a:defRPr sz="1600"/>
            </a:pPr>
            <a:r>
              <a:t>  → Analyse de contrats, de clauses et de documents</a:t>
            </a:r>
          </a:p>
          <a:p>
            <a:pPr lvl="1">
              <a:defRPr sz="1600"/>
            </a:pPr>
            <a:r>
              <a:t>Reconnaissance de patterns de fraude</a:t>
            </a:r>
          </a:p>
          <a:p>
            <a:pPr lvl="1">
              <a:defRPr sz="1600"/>
            </a:pPr>
            <a:r>
              <a:t>  → Apprentissage à partir de cas historiques</a:t>
            </a:r>
          </a:p>
          <a:p>
            <a:pPr lvl="1">
              <a:defRPr sz="1600"/>
            </a:pPr>
            <a:r>
              <a:t>Classification automatique des transactions</a:t>
            </a:r>
          </a:p>
          <a:p>
            <a:pPr lvl="1">
              <a:defRPr sz="1600"/>
            </a:pPr>
            <a:r>
              <a:t>Scoring de risques en temps réel</a:t>
            </a:r>
          </a:p>
          <a:p>
            <a:pPr>
              <a:defRPr sz="1800"/>
            </a:pPr>
          </a:p>
          <a:p>
            <a:pPr>
              <a:defRPr sz="1800"/>
            </a:pPr>
            <a:r>
              <a:t>Enjeux et limites :</a:t>
            </a:r>
          </a:p>
          <a:p>
            <a:pPr lvl="1">
              <a:defRPr sz="1600"/>
            </a:pPr>
            <a:r>
              <a:t>Qualité et disponibilité des données</a:t>
            </a:r>
          </a:p>
          <a:p>
            <a:pPr lvl="1">
              <a:defRPr sz="1600"/>
            </a:pPr>
            <a:r>
              <a:t>Compétences techniques requises</a:t>
            </a:r>
          </a:p>
          <a:p>
            <a:pPr lvl="1">
              <a:defRPr sz="1600"/>
            </a:pPr>
            <a:r>
              <a:t>Questions éthiques et de confidentialité</a:t>
            </a:r>
          </a:p>
          <a:p>
            <a:pPr lvl="1">
              <a:defRPr sz="1600"/>
            </a:pPr>
            <a:r>
              <a:t>Nécessité d'un jugement humain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Les Techniques Modernes et Digitales</a:t>
            </a:r>
          </a:p>
        </p:txBody>
      </p:sp>
      <p:sp>
        <p:nvSpPr>
          <p:cNvPr id="3" name="Content Placeholder 2"/>
          <p:cNvSpPr>
            <a:spLocks noGrp="1"/>
          </p:cNvSpPr>
          <p:nvPr>
            <p:ph idx="1"/>
          </p:nvPr>
        </p:nvSpPr>
        <p:spPr/>
        <p:txBody>
          <a:bodyPr/>
          <a:lstStyle/>
          <a:p/>
          <a:p>
            <a:pPr>
              <a:defRPr sz="1800"/>
            </a:pPr>
            <a:r>
              <a:t>Le Process Mining : définition</a:t>
            </a:r>
          </a:p>
          <a:p>
            <a:pPr lvl="1">
              <a:defRPr sz="1600"/>
            </a:pPr>
            <a:r>
              <a:t>Technique d'analyse des processus à partir des logs systèmes</a:t>
            </a:r>
          </a:p>
          <a:p>
            <a:pPr lvl="1">
              <a:defRPr sz="1600"/>
            </a:pPr>
            <a:r>
              <a:t>Reconstruction automatique des processus réels</a:t>
            </a:r>
          </a:p>
          <a:p>
            <a:pPr lvl="1">
              <a:defRPr sz="1600"/>
            </a:pPr>
            <a:r>
              <a:t>Comparaison entre processus théoriques et pratiques</a:t>
            </a:r>
          </a:p>
          <a:p>
            <a:pPr>
              <a:defRPr sz="1800"/>
            </a:pPr>
          </a:p>
          <a:p>
            <a:pPr>
              <a:defRPr sz="1800"/>
            </a:pPr>
            <a:r>
              <a:t>Fonctionnalités :</a:t>
            </a:r>
          </a:p>
          <a:p>
            <a:pPr lvl="1">
              <a:defRPr sz="1600"/>
            </a:pPr>
            <a:r>
              <a:t>Process Discovery : cartographie automatique des processus</a:t>
            </a:r>
          </a:p>
          <a:p>
            <a:pPr lvl="1">
              <a:defRPr sz="1600"/>
            </a:pPr>
            <a:r>
              <a:t>Conformance Checking : détection des écarts</a:t>
            </a:r>
          </a:p>
          <a:p>
            <a:pPr lvl="1">
              <a:defRPr sz="1600"/>
            </a:pPr>
            <a:r>
              <a:t>Performance Analysis : identification des goulots d'étranglement</a:t>
            </a:r>
          </a:p>
          <a:p>
            <a:pPr lvl="1">
              <a:defRPr sz="1600"/>
            </a:pPr>
            <a:r>
              <a:t>Root Cause Analysis : analyse des causes de non-conformité</a:t>
            </a:r>
          </a:p>
          <a:p>
            <a:pPr>
              <a:defRPr sz="1800"/>
            </a:pPr>
          </a:p>
          <a:p>
            <a:pPr>
              <a:defRPr sz="1800"/>
            </a:pPr>
            <a:r>
              <a:t>Outils de Process Mining :</a:t>
            </a:r>
          </a:p>
          <a:p>
            <a:pPr lvl="1">
              <a:defRPr sz="1600"/>
            </a:pPr>
            <a:r>
              <a:t>Celonis</a:t>
            </a:r>
          </a:p>
          <a:p>
            <a:pPr lvl="1">
              <a:defRPr sz="1600"/>
            </a:pPr>
            <a:r>
              <a:t>UiPath Process Mining</a:t>
            </a:r>
          </a:p>
          <a:p>
            <a:pPr lvl="1">
              <a:defRPr sz="1600"/>
            </a:pPr>
            <a:r>
              <a:t>Signavio Process Intelligence</a:t>
            </a:r>
          </a:p>
          <a:p>
            <a:pPr lvl="1">
              <a:defRPr sz="1600"/>
            </a:pPr>
            <a:r>
              <a:t>Microsoft Power BI avec Process Advisor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Les Techniques Modernes et Digitales</a:t>
            </a:r>
          </a:p>
        </p:txBody>
      </p:sp>
      <p:sp>
        <p:nvSpPr>
          <p:cNvPr id="3" name="Content Placeholder 2"/>
          <p:cNvSpPr>
            <a:spLocks noGrp="1"/>
          </p:cNvSpPr>
          <p:nvPr>
            <p:ph idx="1"/>
          </p:nvPr>
        </p:nvSpPr>
        <p:spPr/>
        <p:txBody>
          <a:bodyPr/>
          <a:lstStyle/>
          <a:p/>
          <a:p>
            <a:pPr>
              <a:defRPr sz="1800"/>
            </a:pPr>
            <a:r>
              <a:t>Concept de Continuous Auditing</a:t>
            </a:r>
          </a:p>
          <a:p>
            <a:pPr lvl="1">
              <a:defRPr sz="1600"/>
            </a:pPr>
            <a:r>
              <a:t>Surveillance permanente des contrôles et des transactions</a:t>
            </a:r>
          </a:p>
          <a:p>
            <a:pPr lvl="1">
              <a:defRPr sz="1600"/>
            </a:pPr>
            <a:r>
              <a:t>Détection en temps réel des anomalies</a:t>
            </a:r>
          </a:p>
          <a:p>
            <a:pPr lvl="1">
              <a:defRPr sz="1600"/>
            </a:pPr>
            <a:r>
              <a:t>Passage d'un audit périodique à un audit permanent</a:t>
            </a:r>
          </a:p>
          <a:p>
            <a:pPr>
              <a:defRPr sz="1800"/>
            </a:pPr>
          </a:p>
          <a:p>
            <a:pPr>
              <a:defRPr sz="1800"/>
            </a:pPr>
            <a:r>
              <a:t>Architecture technique :</a:t>
            </a:r>
          </a:p>
          <a:p>
            <a:pPr lvl="1">
              <a:defRPr sz="1600"/>
            </a:pPr>
            <a:r>
              <a:t>Connecteurs aux systèmes d'information</a:t>
            </a:r>
          </a:p>
          <a:p>
            <a:pPr lvl="1">
              <a:defRPr sz="1600"/>
            </a:pPr>
            <a:r>
              <a:t>Règles de contrôle automatisées</a:t>
            </a:r>
          </a:p>
          <a:p>
            <a:pPr lvl="1">
              <a:defRPr sz="1600"/>
            </a:pPr>
            <a:r>
              <a:t>Tableaux de bord et alertes en temps réel</a:t>
            </a:r>
          </a:p>
          <a:p>
            <a:pPr lvl="1">
              <a:defRPr sz="1600"/>
            </a:pPr>
            <a:r>
              <a:t>Workflows de résolution des incidents</a:t>
            </a:r>
          </a:p>
          <a:p>
            <a:pPr>
              <a:defRPr sz="1800"/>
            </a:pPr>
          </a:p>
          <a:p>
            <a:pPr>
              <a:defRPr sz="1800"/>
            </a:pPr>
            <a:r>
              <a:t>Bénéfices :</a:t>
            </a:r>
          </a:p>
          <a:p>
            <a:pPr lvl="1">
              <a:defRPr sz="1600"/>
            </a:pPr>
            <a:r>
              <a:t>Réduction du délai de détection des anomalies</a:t>
            </a:r>
          </a:p>
          <a:p>
            <a:pPr lvl="1">
              <a:defRPr sz="1600"/>
            </a:pPr>
            <a:r>
              <a:t>Amélioration continue du contrôle interne</a:t>
            </a:r>
          </a:p>
          <a:p>
            <a:pPr lvl="1">
              <a:defRPr sz="1600"/>
            </a:pPr>
            <a:r>
              <a:t>Optimisation des ressources d'audit</a:t>
            </a:r>
          </a:p>
          <a:p>
            <a:pPr lvl="1">
              <a:defRPr sz="1600"/>
            </a:pPr>
            <a:r>
              <a:t>Augmentation de la valeur ajoutée de l'audit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7315200" cy="914400"/>
          </a:xfrm>
          <a:prstGeom prst="rect">
            <a:avLst/>
          </a:prstGeom>
          <a:noFill/>
        </p:spPr>
        <p:txBody>
          <a:bodyPr wrap="none">
            <a:spAutoFit/>
          </a:bodyPr>
          <a:lstStyle/>
          <a:p>
            <a:pPr algn="ctr">
              <a:defRPr sz="6000" b="1">
                <a:solidFill>
                  <a:srgbClr val="003366"/>
                </a:solidFill>
              </a:defRPr>
            </a:pPr>
            <a:r>
              <a:t>V</a:t>
            </a:r>
          </a:p>
        </p:txBody>
      </p:sp>
      <p:sp>
        <p:nvSpPr>
          <p:cNvPr id="4" name="TextBox 3"/>
          <p:cNvSpPr txBox="1"/>
          <p:nvPr/>
        </p:nvSpPr>
        <p:spPr>
          <a:xfrm>
            <a:off x="914400" y="4114800"/>
            <a:ext cx="7315200" cy="914400"/>
          </a:xfrm>
          <a:prstGeom prst="rect">
            <a:avLst/>
          </a:prstGeom>
          <a:noFill/>
        </p:spPr>
        <p:txBody>
          <a:bodyPr wrap="none">
            <a:spAutoFit/>
          </a:bodyPr>
          <a:lstStyle/>
          <a:p>
            <a:pPr algn="ctr">
              <a:defRPr sz="3200" b="1">
                <a:solidFill>
                  <a:srgbClr val="003366"/>
                </a:solidFill>
              </a:defRPr>
            </a:pPr>
            <a:r>
              <a:t>Les Outils de Suivi et de Reporting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Les Outils de Suivi et de Reporting</a:t>
            </a:r>
          </a:p>
        </p:txBody>
      </p:sp>
      <p:sp>
        <p:nvSpPr>
          <p:cNvPr id="3" name="Content Placeholder 2"/>
          <p:cNvSpPr>
            <a:spLocks noGrp="1"/>
          </p:cNvSpPr>
          <p:nvPr>
            <p:ph idx="1"/>
          </p:nvPr>
        </p:nvSpPr>
        <p:spPr/>
        <p:txBody>
          <a:bodyPr/>
          <a:lstStyle/>
          <a:p/>
          <a:p>
            <a:pPr>
              <a:defRPr sz="1800"/>
            </a:pPr>
            <a:r>
              <a:t>Structure du rapport d'audit</a:t>
            </a:r>
          </a:p>
          <a:p>
            <a:pPr lvl="1">
              <a:defRPr sz="1600"/>
            </a:pPr>
            <a:r>
              <a:t>Page de garde : identification de la mission</a:t>
            </a:r>
          </a:p>
          <a:p>
            <a:pPr lvl="1">
              <a:defRPr sz="1600"/>
            </a:pPr>
            <a:r>
              <a:t>Synthèse managériale (Executive Summary)</a:t>
            </a:r>
          </a:p>
          <a:p>
            <a:pPr lvl="1">
              <a:defRPr sz="1600"/>
            </a:pPr>
            <a:r>
              <a:t>Rappel du contexte et des objectifs</a:t>
            </a:r>
          </a:p>
          <a:p>
            <a:pPr lvl="1">
              <a:defRPr sz="1600"/>
            </a:pPr>
            <a:r>
              <a:t>Constats, recommandations et plans d'action</a:t>
            </a:r>
          </a:p>
          <a:p>
            <a:pPr lvl="1">
              <a:defRPr sz="1600"/>
            </a:pPr>
            <a:r>
              <a:t>Annexes et pièces justificatives</a:t>
            </a:r>
          </a:p>
          <a:p>
            <a:pPr>
              <a:defRPr sz="1800"/>
            </a:pPr>
          </a:p>
          <a:p>
            <a:pPr>
              <a:defRPr sz="1800"/>
            </a:pPr>
            <a:r>
              <a:t>Qualités d'un bon rapport :</a:t>
            </a:r>
          </a:p>
          <a:p>
            <a:pPr lvl="1">
              <a:defRPr sz="1600"/>
            </a:pPr>
            <a:r>
              <a:t>Clarté : langage simple et compréhensible</a:t>
            </a:r>
          </a:p>
          <a:p>
            <a:pPr lvl="1">
              <a:defRPr sz="1600"/>
            </a:pPr>
            <a:r>
              <a:t>Concision : aller à l'essentiel</a:t>
            </a:r>
          </a:p>
          <a:p>
            <a:pPr lvl="1">
              <a:defRPr sz="1600"/>
            </a:pPr>
            <a:r>
              <a:t>Constructivité : recommandations opérationnelles</a:t>
            </a:r>
          </a:p>
          <a:p>
            <a:pPr lvl="1">
              <a:defRPr sz="1600"/>
            </a:pPr>
            <a:r>
              <a:t>Objectivité : fondé sur des faits et des preuves</a:t>
            </a:r>
          </a:p>
          <a:p>
            <a:pPr lvl="1">
              <a:defRPr sz="1600"/>
            </a:pPr>
            <a:r>
              <a:t>Hiérarchisation : priorisation des constats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Les Outils de Suivi et de Reporting</a:t>
            </a:r>
          </a:p>
        </p:txBody>
      </p:sp>
      <p:sp>
        <p:nvSpPr>
          <p:cNvPr id="3" name="Content Placeholder 2"/>
          <p:cNvSpPr>
            <a:spLocks noGrp="1"/>
          </p:cNvSpPr>
          <p:nvPr>
            <p:ph idx="1"/>
          </p:nvPr>
        </p:nvSpPr>
        <p:spPr/>
        <p:txBody>
          <a:bodyPr/>
          <a:lstStyle/>
          <a:p/>
          <a:p>
            <a:pPr>
              <a:defRPr sz="1800"/>
            </a:pPr>
            <a:r>
              <a:t>Niveaux de criticité</a:t>
            </a:r>
          </a:p>
          <a:p>
            <a:pPr lvl="1">
              <a:defRPr sz="1600"/>
            </a:pPr>
            <a:r>
              <a:t>Critique : risque majeur, action immédiate requise</a:t>
            </a:r>
          </a:p>
          <a:p>
            <a:pPr lvl="1">
              <a:defRPr sz="1600"/>
            </a:pPr>
            <a:r>
              <a:t>Important : risque significatif, action à court terme</a:t>
            </a:r>
          </a:p>
          <a:p>
            <a:pPr lvl="1">
              <a:defRPr sz="1600"/>
            </a:pPr>
            <a:r>
              <a:t>Modéré : amélioration souhaitable, action à moyen terme</a:t>
            </a:r>
          </a:p>
          <a:p>
            <a:pPr lvl="1">
              <a:defRPr sz="1600"/>
            </a:pPr>
            <a:r>
              <a:t>Mineur : observation, amélioration continue</a:t>
            </a:r>
          </a:p>
          <a:p>
            <a:pPr>
              <a:defRPr sz="1800"/>
            </a:pPr>
          </a:p>
          <a:p>
            <a:pPr>
              <a:defRPr sz="1800"/>
            </a:pPr>
            <a:r>
              <a:t>Éléments de la recommandation :</a:t>
            </a:r>
          </a:p>
          <a:p>
            <a:pPr lvl="1">
              <a:defRPr sz="1600"/>
            </a:pPr>
            <a:r>
              <a:t>Description du problème</a:t>
            </a:r>
          </a:p>
          <a:p>
            <a:pPr lvl="1">
              <a:defRPr sz="1600"/>
            </a:pPr>
            <a:r>
              <a:t>Risque associé</a:t>
            </a:r>
          </a:p>
          <a:p>
            <a:pPr lvl="1">
              <a:defRPr sz="1600"/>
            </a:pPr>
            <a:r>
              <a:t>Action corrective proposée</a:t>
            </a:r>
          </a:p>
          <a:p>
            <a:pPr lvl="1">
              <a:defRPr sz="1600"/>
            </a:pPr>
            <a:r>
              <a:t>Responsable de la mise en œuvre</a:t>
            </a:r>
          </a:p>
          <a:p>
            <a:pPr lvl="1">
              <a:defRPr sz="1600"/>
            </a:pPr>
            <a:r>
              <a:t>Délai de mise en œuvre</a:t>
            </a:r>
          </a:p>
          <a:p>
            <a:pPr>
              <a:defRPr sz="1800"/>
            </a:pPr>
          </a:p>
          <a:p>
            <a:pPr>
              <a:defRPr sz="1800"/>
            </a:pPr>
            <a:r>
              <a:t>Bonnes pratiques :</a:t>
            </a:r>
          </a:p>
          <a:p>
            <a:pPr lvl="1">
              <a:defRPr sz="1600"/>
            </a:pPr>
            <a:r>
              <a:t>Recommandations SMART (Spécifiques, Mesurables, Atteignables)</a:t>
            </a:r>
          </a:p>
          <a:p>
            <a:pPr lvl="1">
              <a:defRPr sz="1600"/>
            </a:pPr>
            <a:r>
              <a:t>Co-construction avec les audités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Les Outils de Suivi et de Reporting</a:t>
            </a:r>
          </a:p>
        </p:txBody>
      </p:sp>
      <p:sp>
        <p:nvSpPr>
          <p:cNvPr id="3" name="Content Placeholder 2"/>
          <p:cNvSpPr>
            <a:spLocks noGrp="1"/>
          </p:cNvSpPr>
          <p:nvPr>
            <p:ph idx="1"/>
          </p:nvPr>
        </p:nvSpPr>
        <p:spPr/>
        <p:txBody>
          <a:bodyPr/>
          <a:lstStyle/>
          <a:p/>
          <a:p>
            <a:pPr>
              <a:defRPr sz="1800"/>
            </a:pPr>
            <a:r>
              <a:t>Objectif du suivi</a:t>
            </a:r>
          </a:p>
          <a:p>
            <a:pPr lvl="1">
              <a:defRPr sz="1600"/>
            </a:pPr>
            <a:r>
              <a:t>S'assurer de la mise en œuvre effective des recommandations</a:t>
            </a:r>
          </a:p>
          <a:p>
            <a:pPr lvl="1">
              <a:defRPr sz="1600"/>
            </a:pPr>
            <a:r>
              <a:t>Mesurer l'amélioration du contrôle interne</a:t>
            </a:r>
          </a:p>
          <a:p>
            <a:pPr lvl="1">
              <a:defRPr sz="1600"/>
            </a:pPr>
            <a:r>
              <a:t>Valoriser le travail de l'audit interne</a:t>
            </a:r>
          </a:p>
          <a:p>
            <a:pPr>
              <a:defRPr sz="1800"/>
            </a:pPr>
          </a:p>
          <a:p>
            <a:pPr>
              <a:defRPr sz="1800"/>
            </a:pPr>
            <a:r>
              <a:t>Informations suivies :</a:t>
            </a:r>
          </a:p>
          <a:p>
            <a:pPr lvl="1">
              <a:defRPr sz="1600"/>
            </a:pPr>
            <a:r>
              <a:t>Référence de la recommandation</a:t>
            </a:r>
          </a:p>
          <a:p>
            <a:pPr lvl="1">
              <a:defRPr sz="1600"/>
            </a:pPr>
            <a:r>
              <a:t>Date d'émission et délai de mise en œuvre</a:t>
            </a:r>
          </a:p>
          <a:p>
            <a:pPr lvl="1">
              <a:defRPr sz="1600"/>
            </a:pPr>
            <a:r>
              <a:t>Responsable de l'action</a:t>
            </a:r>
          </a:p>
          <a:p>
            <a:pPr lvl="1">
              <a:defRPr sz="1600"/>
            </a:pPr>
            <a:r>
              <a:t>Statut : non démarrée / en cours / réalisée / abandonnée</a:t>
            </a:r>
          </a:p>
          <a:p>
            <a:pPr lvl="1">
              <a:defRPr sz="1600"/>
            </a:pPr>
            <a:r>
              <a:t>Date effective de réalisation</a:t>
            </a:r>
          </a:p>
          <a:p>
            <a:pPr lvl="1">
              <a:defRPr sz="1600"/>
            </a:pPr>
            <a:r>
              <a:t>Commentaires et justifications</a:t>
            </a:r>
          </a:p>
          <a:p>
            <a:pPr>
              <a:defRPr sz="1800"/>
            </a:pPr>
          </a:p>
          <a:p>
            <a:pPr>
              <a:defRPr sz="1800"/>
            </a:pPr>
            <a:r>
              <a:t>Fréquence du suivi :</a:t>
            </a:r>
          </a:p>
          <a:p>
            <a:pPr lvl="1">
              <a:defRPr sz="1600"/>
            </a:pPr>
            <a:r>
              <a:t>Revue trimestrielle avec le management</a:t>
            </a:r>
          </a:p>
          <a:p>
            <a:pPr lvl="1">
              <a:defRPr sz="1600"/>
            </a:pPr>
            <a:r>
              <a:t>Reporting au comité d'audit</a:t>
            </a:r>
          </a:p>
          <a:p>
            <a:pPr lvl="1">
              <a:defRPr sz="1600"/>
            </a:pPr>
            <a:r>
              <a:t>Relances régulières des responsables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Les Outils de Suivi et de Reporting</a:t>
            </a:r>
          </a:p>
        </p:txBody>
      </p:sp>
      <p:sp>
        <p:nvSpPr>
          <p:cNvPr id="3" name="Content Placeholder 2"/>
          <p:cNvSpPr>
            <a:spLocks noGrp="1"/>
          </p:cNvSpPr>
          <p:nvPr>
            <p:ph idx="1"/>
          </p:nvPr>
        </p:nvSpPr>
        <p:spPr/>
        <p:txBody>
          <a:bodyPr/>
          <a:lstStyle/>
          <a:p/>
          <a:p>
            <a:pPr>
              <a:defRPr sz="1800"/>
            </a:pPr>
            <a:r>
              <a:t>Indicateurs d'activité :</a:t>
            </a:r>
          </a:p>
          <a:p>
            <a:pPr lvl="1">
              <a:defRPr sz="1600"/>
            </a:pPr>
            <a:r>
              <a:t>Nombre de missions réalisées vs planifiées</a:t>
            </a:r>
          </a:p>
          <a:p>
            <a:pPr lvl="1">
              <a:defRPr sz="1600"/>
            </a:pPr>
            <a:r>
              <a:t>Taux de couverture du plan d'audit</a:t>
            </a:r>
          </a:p>
          <a:p>
            <a:pPr lvl="1">
              <a:defRPr sz="1600"/>
            </a:pPr>
            <a:r>
              <a:t>Heures consommées par mission</a:t>
            </a:r>
          </a:p>
          <a:p>
            <a:pPr lvl="1">
              <a:defRPr sz="1600"/>
            </a:pPr>
            <a:r>
              <a:t>Respect des délais de réalisation</a:t>
            </a:r>
          </a:p>
          <a:p>
            <a:pPr>
              <a:defRPr sz="1800"/>
            </a:pPr>
          </a:p>
          <a:p>
            <a:pPr>
              <a:defRPr sz="1800"/>
            </a:pPr>
            <a:r>
              <a:t>Indicateurs de qualité :</a:t>
            </a:r>
          </a:p>
          <a:p>
            <a:pPr lvl="1">
              <a:defRPr sz="1600"/>
            </a:pPr>
            <a:r>
              <a:t>Taux d'acceptation des recommandations</a:t>
            </a:r>
          </a:p>
          <a:p>
            <a:pPr lvl="1">
              <a:defRPr sz="1600"/>
            </a:pPr>
            <a:r>
              <a:t>Taux de mise en œuvre des recommandations</a:t>
            </a:r>
          </a:p>
          <a:p>
            <a:pPr lvl="1">
              <a:defRPr sz="1600"/>
            </a:pPr>
            <a:r>
              <a:t>Satisfaction des audités (enquêtes post-mission)</a:t>
            </a:r>
          </a:p>
          <a:p>
            <a:pPr lvl="1">
              <a:defRPr sz="1600"/>
            </a:pPr>
            <a:r>
              <a:t>Qualité des dossiers d'audit (revues internes)</a:t>
            </a:r>
          </a:p>
          <a:p>
            <a:pPr>
              <a:defRPr sz="1800"/>
            </a:pPr>
          </a:p>
          <a:p>
            <a:pPr>
              <a:defRPr sz="1800"/>
            </a:pPr>
            <a:r>
              <a:t>Indicateurs d'impact :</a:t>
            </a:r>
          </a:p>
          <a:p>
            <a:pPr lvl="1">
              <a:defRPr sz="1600"/>
            </a:pPr>
            <a:r>
              <a:t>Économies réalisées grâce aux recommandations</a:t>
            </a:r>
          </a:p>
          <a:p>
            <a:pPr lvl="1">
              <a:defRPr sz="1600"/>
            </a:pPr>
            <a:r>
              <a:t>Réduction des risques identifiés</a:t>
            </a:r>
          </a:p>
          <a:p>
            <a:pPr lvl="1">
              <a:defRPr sz="1600"/>
            </a:pPr>
            <a:r>
              <a:t>Contribution à la gouvernance et à la conformité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Les Outils de Suivi et de Reporting</a:t>
            </a:r>
          </a:p>
        </p:txBody>
      </p:sp>
      <p:sp>
        <p:nvSpPr>
          <p:cNvPr id="3" name="Content Placeholder 2"/>
          <p:cNvSpPr>
            <a:spLocks noGrp="1"/>
          </p:cNvSpPr>
          <p:nvPr>
            <p:ph idx="1"/>
          </p:nvPr>
        </p:nvSpPr>
        <p:spPr/>
        <p:txBody>
          <a:bodyPr/>
          <a:lstStyle/>
          <a:p/>
          <a:p>
            <a:pPr>
              <a:defRPr sz="1800"/>
            </a:pPr>
            <a:r>
              <a:t>Objectif du tableau de bord</a:t>
            </a:r>
          </a:p>
          <a:p>
            <a:pPr lvl="1">
              <a:defRPr sz="1600"/>
            </a:pPr>
            <a:r>
              <a:t>Outil de pilotage de l'activité d'audit</a:t>
            </a:r>
          </a:p>
          <a:p>
            <a:pPr lvl="1">
              <a:defRPr sz="1600"/>
            </a:pPr>
            <a:r>
              <a:t>Vision synthétique de la performance</a:t>
            </a:r>
          </a:p>
          <a:p>
            <a:pPr lvl="1">
              <a:defRPr sz="1600"/>
            </a:pPr>
            <a:r>
              <a:t>Support de communication avec la direction</a:t>
            </a:r>
          </a:p>
          <a:p>
            <a:pPr>
              <a:defRPr sz="1800"/>
            </a:pPr>
          </a:p>
          <a:p>
            <a:pPr>
              <a:defRPr sz="1800"/>
            </a:pPr>
            <a:r>
              <a:t>Dimensions suivies :</a:t>
            </a:r>
          </a:p>
          <a:p>
            <a:pPr lvl="1">
              <a:defRPr sz="1600"/>
            </a:pPr>
            <a:r>
              <a:t>Avancement du plan d'audit annuel</a:t>
            </a:r>
          </a:p>
          <a:p>
            <a:pPr lvl="1">
              <a:defRPr sz="1600"/>
            </a:pPr>
            <a:r>
              <a:t>État du portefeuille de recommandations</a:t>
            </a:r>
          </a:p>
          <a:p>
            <a:pPr lvl="1">
              <a:defRPr sz="1600"/>
            </a:pPr>
            <a:r>
              <a:t>Cartographie actualisée des risques</a:t>
            </a:r>
          </a:p>
          <a:p>
            <a:pPr lvl="1">
              <a:defRPr sz="1600"/>
            </a:pPr>
            <a:r>
              <a:t>Ressources consommées et disponibles</a:t>
            </a:r>
          </a:p>
          <a:p>
            <a:pPr lvl="1">
              <a:defRPr sz="1600"/>
            </a:pPr>
            <a:r>
              <a:t>Indicateurs de qualité et de satisfaction</a:t>
            </a:r>
          </a:p>
          <a:p>
            <a:pPr>
              <a:defRPr sz="1800"/>
            </a:pPr>
          </a:p>
          <a:p>
            <a:pPr>
              <a:defRPr sz="1800"/>
            </a:pPr>
            <a:r>
              <a:t>Formats de présentation :</a:t>
            </a:r>
          </a:p>
          <a:p>
            <a:pPr lvl="1">
              <a:defRPr sz="1600"/>
            </a:pPr>
            <a:r>
              <a:t>Tableaux de bord Excel / Power BI</a:t>
            </a:r>
          </a:p>
          <a:p>
            <a:pPr lvl="1">
              <a:defRPr sz="1600"/>
            </a:pPr>
            <a:r>
              <a:t>Rapports périodiques au comité d'audit</a:t>
            </a:r>
          </a:p>
          <a:p>
            <a:pPr lvl="1">
              <a:defRPr sz="1600"/>
            </a:pPr>
            <a:r>
              <a:t>Visualisations graphiques (diagrammes, heat maps)</a:t>
            </a:r>
          </a:p>
          <a:p>
            <a:pPr lvl="1">
              <a:defRPr sz="1600"/>
            </a:pPr>
            <a:r>
              <a:t>Reporting automatisé via outils GRC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Synthèse des Outils</a:t>
            </a:r>
          </a:p>
        </p:txBody>
      </p:sp>
      <p:sp>
        <p:nvSpPr>
          <p:cNvPr id="3" name="Content Placeholder 2"/>
          <p:cNvSpPr>
            <a:spLocks noGrp="1"/>
          </p:cNvSpPr>
          <p:nvPr>
            <p:ph idx="1"/>
          </p:nvPr>
        </p:nvSpPr>
        <p:spPr/>
        <p:txBody>
          <a:bodyPr/>
          <a:lstStyle/>
          <a:p/>
          <a:p>
            <a:pPr>
              <a:defRPr sz="1800"/>
            </a:pPr>
            <a:r>
              <a:t>Classification des outils par phase d'audit :</a:t>
            </a:r>
          </a:p>
          <a:p>
            <a:pPr>
              <a:defRPr sz="1800"/>
            </a:pPr>
          </a:p>
          <a:p>
            <a:pPr>
              <a:defRPr sz="1800"/>
            </a:pPr>
            <a:r>
              <a:t>Phase de préparation :</a:t>
            </a:r>
          </a:p>
          <a:p>
            <a:pPr lvl="1">
              <a:defRPr sz="1600"/>
            </a:pPr>
            <a:r>
              <a:t>Entretiens de prise de connaissance</a:t>
            </a:r>
          </a:p>
          <a:p>
            <a:pPr lvl="1">
              <a:defRPr sz="1600"/>
            </a:pPr>
            <a:r>
              <a:t>Cartographie des risques</a:t>
            </a:r>
          </a:p>
          <a:p>
            <a:pPr lvl="1">
              <a:defRPr sz="1600"/>
            </a:pPr>
            <a:r>
              <a:t>Définition du plan d'audit</a:t>
            </a:r>
          </a:p>
          <a:p>
            <a:pPr>
              <a:defRPr sz="1800"/>
            </a:pPr>
          </a:p>
          <a:p>
            <a:pPr>
              <a:defRPr sz="1800"/>
            </a:pPr>
            <a:r>
              <a:t>Phase de réalisation :</a:t>
            </a:r>
          </a:p>
          <a:p>
            <a:pPr lvl="1">
              <a:defRPr sz="1600"/>
            </a:pPr>
            <a:r>
              <a:t>QCI, tests, observations, FRAP</a:t>
            </a:r>
          </a:p>
          <a:p>
            <a:pPr lvl="1">
              <a:defRPr sz="1600"/>
            </a:pPr>
            <a:r>
              <a:t>Data analytics et process mining</a:t>
            </a:r>
          </a:p>
          <a:p>
            <a:pPr lvl="1">
              <a:defRPr sz="1600"/>
            </a:pPr>
            <a:r>
              <a:t>Flow charts et grilles de séparation</a:t>
            </a:r>
          </a:p>
          <a:p>
            <a:pPr>
              <a:defRPr sz="1800"/>
            </a:pPr>
          </a:p>
          <a:p>
            <a:pPr>
              <a:defRPr sz="1800"/>
            </a:pPr>
            <a:r>
              <a:t>Phase de conclusion :</a:t>
            </a:r>
          </a:p>
          <a:p>
            <a:pPr lvl="1">
              <a:defRPr sz="1600"/>
            </a:pPr>
            <a:r>
              <a:t>Rapport d'audit</a:t>
            </a:r>
          </a:p>
          <a:p>
            <a:pPr lvl="1">
              <a:defRPr sz="1600"/>
            </a:pPr>
            <a:r>
              <a:t>Tableaux de bord et KPIs</a:t>
            </a:r>
          </a:p>
          <a:p>
            <a:pPr lvl="1">
              <a:defRPr sz="1600"/>
            </a:pPr>
            <a:r>
              <a:t>Suivi des recommandations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
            <a:pPr>
              <a:defRPr sz="1800"/>
            </a:pPr>
            <a:r>
              <a:t>Les outils et techniques de l'audit interne ont considérablement évolué avec la transformation digitale. Aujourd'hui, l'auditeur moderne doit maîtriser à la fois les méthodes traditionnelles et les technologies avancées.</a:t>
            </a:r>
          </a:p>
          <a:p>
            <a:pPr>
              <a:defRPr sz="1800"/>
            </a:pPr>
          </a:p>
          <a:p>
            <a:pPr>
              <a:defRPr sz="1800"/>
            </a:pPr>
            <a:r>
              <a:t>Points clés à retenir :</a:t>
            </a:r>
          </a:p>
          <a:p>
            <a:pPr lvl="1">
              <a:defRPr sz="1600"/>
            </a:pPr>
            <a:r>
              <a:t>La diversité des outils répond à la complexité des missions</a:t>
            </a:r>
          </a:p>
          <a:p>
            <a:pPr lvl="1">
              <a:defRPr sz="1600"/>
            </a:pPr>
            <a:r>
              <a:t>Le digital transforme l'audit : du périodique au continu</a:t>
            </a:r>
          </a:p>
          <a:p>
            <a:pPr lvl="1">
              <a:defRPr sz="1600"/>
            </a:pPr>
            <a:r>
              <a:t>L'IA et le data analytics augmentent la valeur ajoutée</a:t>
            </a:r>
          </a:p>
          <a:p>
            <a:pPr lvl="1">
              <a:defRPr sz="1600"/>
            </a:pPr>
            <a:r>
              <a:t>Le jugement professionnel reste essentiel</a:t>
            </a:r>
          </a:p>
          <a:p>
            <a:pPr lvl="1">
              <a:defRPr sz="1600"/>
            </a:pPr>
            <a:r>
              <a:t>La formation continue est indispensable</a:t>
            </a:r>
          </a:p>
          <a:p>
            <a:pPr>
              <a:defRPr sz="1800"/>
            </a:pPr>
          </a:p>
          <a:p>
            <a:pPr>
              <a:defRPr sz="1800"/>
            </a:pPr>
            <a:r>
              <a:t>L'efficacité de l'audit interne repose sur la capacité de l'auditeur à sélectionner et combiner judicieusement les outils adaptés à chaque contexte, tout en maintenant les principes fondamentaux d'indépendance, d'objectivité et de rigueur méthodologique.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Références</a:t>
            </a:r>
          </a:p>
        </p:txBody>
      </p:sp>
      <p:sp>
        <p:nvSpPr>
          <p:cNvPr id="3" name="Content Placeholder 2"/>
          <p:cNvSpPr>
            <a:spLocks noGrp="1"/>
          </p:cNvSpPr>
          <p:nvPr>
            <p:ph idx="1"/>
          </p:nvPr>
        </p:nvSpPr>
        <p:spPr/>
        <p:txBody>
          <a:bodyPr/>
          <a:lstStyle/>
          <a:p/>
          <a:p>
            <a:pPr>
              <a:defRPr sz="1800"/>
            </a:pPr>
            <a:r>
              <a:t>Ouvrages et normes :</a:t>
            </a:r>
          </a:p>
          <a:p>
            <a:pPr>
              <a:defRPr sz="1800"/>
            </a:pPr>
          </a:p>
          <a:p>
            <a:pPr lvl="1">
              <a:defRPr sz="1600"/>
            </a:pPr>
            <a:r>
              <a:t>Cadre de Référence International des Pratiques Professionnelles (CRIPP)</a:t>
            </a:r>
          </a:p>
          <a:p>
            <a:pPr lvl="1">
              <a:defRPr sz="1600"/>
            </a:pPr>
            <a:r>
              <a:t>Normes Internationales pour la Pratique Professionnelle de l'Audit Interne - IIA 2024</a:t>
            </a:r>
          </a:p>
          <a:p>
            <a:pPr lvl="1">
              <a:defRPr sz="1600"/>
            </a:pPr>
            <a:r>
              <a:t>Guide d'Audit des Systèmes d'Information - ISACA</a:t>
            </a:r>
          </a:p>
          <a:p>
            <a:pPr lvl="1">
              <a:defRPr sz="1600"/>
            </a:pPr>
            <a:r>
              <a:t>IFACI - Les outils de l'audit interne : 40 fiches pratiques</a:t>
            </a:r>
          </a:p>
          <a:p>
            <a:pPr lvl="1">
              <a:defRPr sz="1600"/>
            </a:pPr>
            <a:r>
              <a:t>J. Renard - Théorie et pratique de l'audit interne</a:t>
            </a:r>
          </a:p>
          <a:p>
            <a:pPr lvl="1">
              <a:defRPr sz="1600"/>
            </a:pPr>
            <a:r>
              <a:t>O. Lemant - La conduite d'une mission d'audit interne</a:t>
            </a:r>
          </a:p>
          <a:p>
            <a:pPr lvl="1">
              <a:defRPr sz="1600"/>
            </a:pPr>
            <a:r>
              <a:t>COSO - Internal Control Framework</a:t>
            </a:r>
          </a:p>
          <a:p>
            <a:pPr lvl="1">
              <a:defRPr sz="1600"/>
            </a:pPr>
            <a:r>
              <a:t>ISO 31000 - Management du risque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Références</a:t>
            </a:r>
          </a:p>
        </p:txBody>
      </p:sp>
      <p:sp>
        <p:nvSpPr>
          <p:cNvPr id="3" name="Content Placeholder 2"/>
          <p:cNvSpPr>
            <a:spLocks noGrp="1"/>
          </p:cNvSpPr>
          <p:nvPr>
            <p:ph idx="1"/>
          </p:nvPr>
        </p:nvSpPr>
        <p:spPr/>
        <p:txBody>
          <a:bodyPr/>
          <a:lstStyle/>
          <a:p/>
          <a:p>
            <a:pPr>
              <a:defRPr sz="1800"/>
            </a:pPr>
            <a:r>
              <a:t>Sites web et ressources :</a:t>
            </a:r>
          </a:p>
          <a:p>
            <a:pPr>
              <a:defRPr sz="1800"/>
            </a:pPr>
          </a:p>
          <a:p>
            <a:pPr lvl="1">
              <a:defRPr sz="1600"/>
            </a:pPr>
            <a:r>
              <a:t>The Institute of Internal Auditors (IIA) : www.theiia.org</a:t>
            </a:r>
          </a:p>
          <a:p>
            <a:pPr lvl="1">
              <a:defRPr sz="1600"/>
            </a:pPr>
            <a:r>
              <a:t>IIA Maroc : www.iiamaroc.org</a:t>
            </a:r>
          </a:p>
          <a:p>
            <a:pPr lvl="1">
              <a:defRPr sz="1600"/>
            </a:pPr>
            <a:r>
              <a:t>IFACI (France) : www.ifaci.com</a:t>
            </a:r>
          </a:p>
          <a:p>
            <a:pPr lvl="1">
              <a:defRPr sz="1600"/>
            </a:pPr>
            <a:r>
              <a:t>ISACA (Audit SI) : www.isaca.org</a:t>
            </a:r>
          </a:p>
          <a:p>
            <a:pPr lvl="1">
              <a:defRPr sz="1600"/>
            </a:pPr>
            <a:r>
              <a:t>ACL / Diligent : www.diligent.com</a:t>
            </a:r>
          </a:p>
          <a:p>
            <a:pPr lvl="1">
              <a:defRPr sz="1600"/>
            </a:pPr>
            <a:r>
              <a:t>Celonis (Process Mining) : www.celonis.com</a:t>
            </a:r>
          </a:p>
          <a:p>
            <a:pPr lvl="1">
              <a:defRPr sz="1600"/>
            </a:pPr>
            <a:r>
              <a:t>MIT Sloan - Audit Analytics Research</a:t>
            </a:r>
          </a:p>
          <a:p>
            <a:pPr lvl="1">
              <a:defRPr sz="1600"/>
            </a:pPr>
            <a:r>
              <a:t>Journal of Emerging Technologies in Accounting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1828800" y="2286000"/>
            <a:ext cx="6248095" cy="1371600"/>
          </a:xfrm>
          <a:prstGeom prst="rect">
            <a:avLst/>
          </a:prstGeom>
          <a:noFill/>
        </p:spPr>
        <p:txBody>
          <a:bodyPr wrap="none">
            <a:spAutoFit/>
          </a:bodyPr>
          <a:lstStyle/>
          <a:p>
            <a:pPr algn="ctr">
              <a:defRPr sz="4800" b="1">
                <a:solidFill>
                  <a:srgbClr val="003366"/>
                </a:solidFill>
              </a:defRPr>
            </a:pPr>
            <a: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